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a:ea="Malgun Gothic">
                <a:solidFill>
                  <a:srgbClr val="FFFFFF"/>
                </a:solidFill>
                <a:latin typeface="Malgun Gothic"/>
              </a:rPr>
              <a:t>지하철 승하차 패턴 분석을 통한
서울시 상권유형 분류 및 팝업스토어 입지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Malgun Gothic">
                <a:solidFill>
                  <a:srgbClr val="BDC3C7"/>
                </a:solidFill>
                <a:latin typeface="Malgun Gothic"/>
              </a:rPr>
              <a:t>Subway Boarding/Alighting Pattern Analysis for Seoul Commercial District Classification
and Pop-up Store Location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17A2B8"/>
                </a:solidFill>
                <a:latin typeface="Malgun Gothic"/>
              </a:rPr>
              <a:t>2025 | Data-Driven Urban Analytics | K-Means Clustering · Kruskal-Wallis · ANOVA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발표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="Malgun Gothic">
                <a:solidFill>
                  <a:srgbClr val="17A2B8"/>
                </a:solidFill>
                <a:latin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FFFFFF"/>
                </a:solidFill>
                <a:latin typeface="Malgun Gothic"/>
              </a:rPr>
              <a:t>Project Overview &amp; SCQA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BDC3C7"/>
                </a:solidFill>
                <a:latin typeface="Malgun Gothic"/>
              </a:rPr>
              <a:t>문제 정의 및 접근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="Malgun Gothic">
                <a:solidFill>
                  <a:srgbClr val="17A2B8"/>
                </a:solidFill>
                <a:latin typeface="Malgun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47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FFFFFF"/>
                </a:solidFill>
                <a:latin typeface="Malgun Gothic"/>
              </a:rPr>
              <a:t>Data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847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BDC3C7"/>
                </a:solidFill>
                <a:latin typeface="Malgun Gothic"/>
              </a:rPr>
              <a:t>데이터 구성 및 전처리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="Malgun Gothic">
                <a:solidFill>
                  <a:srgbClr val="17A2B8"/>
                </a:solidFill>
                <a:latin typeface="Malgun Gothi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225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FFFFFF"/>
                </a:solidFill>
                <a:latin typeface="Malgun Gothic"/>
              </a:rPr>
              <a:t>Feature Engineering: Balance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3225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BDC3C7"/>
                </a:solidFill>
                <a:latin typeface="Malgun Gothic"/>
              </a:rPr>
              <a:t>승하차 균형 지표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980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="Malgun Gothic">
                <a:solidFill>
                  <a:srgbClr val="17A2B8"/>
                </a:solidFill>
                <a:latin typeface="Malgun Gothic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980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FFFFFF"/>
                </a:solidFill>
                <a:latin typeface="Malgun Gothic"/>
              </a:rPr>
              <a:t>K-Means Clustering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7980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BDC3C7"/>
                </a:solidFill>
                <a:latin typeface="Malgun Gothic"/>
              </a:rPr>
              <a:t>서울시 역 3개 유형 분류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73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="Malgun Gothic">
                <a:solidFill>
                  <a:srgbClr val="17A2B8"/>
                </a:solidFill>
                <a:latin typeface="Malgun Gothic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735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FFFFFF"/>
                </a:solidFill>
                <a:latin typeface="Malgun Gothic"/>
              </a:rPr>
              <a:t>Cluster 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2735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BDC3C7"/>
                </a:solidFill>
                <a:latin typeface="Malgun Gothic"/>
              </a:rPr>
              <a:t>유형별 특성 프로파일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49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="Malgun Gothic">
                <a:solidFill>
                  <a:srgbClr val="17A2B8"/>
                </a:solidFill>
                <a:latin typeface="Malgun Gothic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FFFFFF"/>
                </a:solidFill>
                <a:latin typeface="Malgun Gothic"/>
              </a:rPr>
              <a:t>Statistical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BDC3C7"/>
                </a:solidFill>
                <a:latin typeface="Malgun Gothic"/>
              </a:rPr>
              <a:t>Kruskal-Wallis · ANOVA · Tukey HSD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245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="Malgun Gothic">
                <a:solidFill>
                  <a:srgbClr val="17A2B8"/>
                </a:solidFill>
                <a:latin typeface="Malgun Gothic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245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FFFFFF"/>
                </a:solidFill>
                <a:latin typeface="Malgun Gothic"/>
              </a:rPr>
              <a:t>Golden Hour &amp; Hourly 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224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BDC3C7"/>
                </a:solidFill>
                <a:latin typeface="Malgun Gothic"/>
              </a:rPr>
              <a:t>시간대별 최적 운영 전략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0001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="Malgun Gothic">
                <a:solidFill>
                  <a:srgbClr val="17A2B8"/>
                </a:solidFill>
                <a:latin typeface="Malgun Gothic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7000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FFFFFF"/>
                </a:solidFill>
                <a:latin typeface="Malgun Gothic"/>
              </a:rPr>
              <a:t>Top-5 Recommended Locations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7000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BDC3C7"/>
                </a:solidFill>
                <a:latin typeface="Malgun Gothic"/>
              </a:rPr>
              <a:t>유형별 추천 입지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="Malgun Gothic">
                <a:solidFill>
                  <a:srgbClr val="17A2B8"/>
                </a:solidFill>
                <a:latin typeface="Malgun Gothic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1755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FFFFFF"/>
                </a:solidFill>
                <a:latin typeface="Malgun Gothic"/>
              </a:rPr>
              <a:t>Strategy Matrix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51755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BDC3C7"/>
                </a:solidFill>
                <a:latin typeface="Malgun Gothic"/>
              </a:rPr>
              <a:t>상권유형 × 팝업스토어 전략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509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ea="Malgun Gothic">
                <a:solidFill>
                  <a:srgbClr val="17A2B8"/>
                </a:solidFill>
                <a:latin typeface="Malgun Gothic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6509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FFFFFF"/>
                </a:solidFill>
                <a:latin typeface="Malgun Gothic"/>
              </a:rPr>
              <a:t>Action Plan &amp; Conclusion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6509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BDC3C7"/>
                </a:solidFill>
                <a:latin typeface="Malgun Gothic"/>
              </a:rPr>
              <a:t>시나리오별 실행 계획 및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Project Overview: SCQA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문제 정의 및 분석 접근 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1005840"/>
          </a:xfrm>
          <a:prstGeom prst="rect">
            <a:avLst/>
          </a:prstGeom>
          <a:solidFill>
            <a:srgbClr val="38A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38A39E"/>
                </a:solidFill>
                <a:latin typeface="Malgun Gothic"/>
              </a:rPr>
              <a:t>Situation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371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a:ea="Malgun Gothic">
                <a:solidFill>
                  <a:srgbClr val="FFFFFF"/>
                </a:solidFill>
                <a:latin typeface="Malgun Gothic"/>
              </a:rPr>
              <a:t>서울시 지하철 역마다 승하차 패턴이 상이하지만,
유동인구(총 이용객)만으로 입지를 평가하는 것이 일반적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73152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E67E22"/>
                </a:solidFill>
                <a:latin typeface="Malgun Gothic"/>
              </a:rPr>
              <a:t>Complication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0604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a:ea="Malgun Gothic">
                <a:solidFill>
                  <a:srgbClr val="FFFFFF"/>
                </a:solidFill>
                <a:latin typeface="Malgun Gothic"/>
              </a:rPr>
              <a:t>총 이용객이 많아도 특정 시간대 수요에 불일치가 발생
→ 오피스 밀집 지역은 주말/야간 유동 급감,
주거 지역은 주간 유동 부족 → 팝업스토어 실패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73152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E74C3C"/>
                </a:solidFill>
                <a:latin typeface="Malgun Gothic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8404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a:ea="Malgun Gothic">
                <a:solidFill>
                  <a:srgbClr val="FFFFFF"/>
                </a:solidFill>
                <a:latin typeface="Malgun Gothic"/>
              </a:rPr>
              <a:t>승하차 패턴을 체계적으로 유형화하고,
각 유형에 최적화된 팝업스토어 입지 전략을
도출할 수 있는가?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74920"/>
            <a:ext cx="73152" cy="100584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17A2B8"/>
                </a:solidFill>
                <a:latin typeface="Malgun Gothic"/>
              </a:rPr>
              <a:t>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07492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a:ea="Malgun Gothic">
                <a:solidFill>
                  <a:srgbClr val="FFFFFF"/>
                </a:solidFill>
                <a:latin typeface="Malgun Gothic"/>
              </a:rPr>
              <a:t>Balance Index(출근시간 승하차 비율) + K-Means
→ 3개 상권 유형 도출 (주거/복합/오피스)
→ 통계 검증 → 유형별 맞춤 입지 전략 제시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Data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2019년 서울시 지하철 역별 승하차 데이터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13716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17A2B8"/>
                </a:solidFill>
                <a:latin typeface="Malgun Gothic"/>
              </a:rPr>
              <a:t>579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FFFFFF"/>
                </a:solidFill>
                <a:latin typeface="Malgun Gothic"/>
              </a:rPr>
              <a:t>전체 역 (수도권)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13716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481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17A2B8"/>
                </a:solidFill>
                <a:latin typeface="Malgun Gothic"/>
              </a:rPr>
              <a:t>→ 280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FFFFFF"/>
                </a:solidFill>
                <a:latin typeface="Malgun Gothic"/>
              </a:rPr>
              <a:t>서울시 역 (필터링)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560320" cy="13716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481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17A2B8"/>
                </a:solidFill>
                <a:latin typeface="Malgun Gothic"/>
              </a:rPr>
              <a:t>2019년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FFFFFF"/>
                </a:solidFill>
                <a:latin typeface="Malgun Gothic"/>
              </a:rPr>
              <a:t>Pre-COVID 정상 데이터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560320" cy="13716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81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17A2B8"/>
                </a:solidFill>
                <a:latin typeface="Malgun Gothic"/>
              </a:rPr>
              <a:t>07–09시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FFFFFF"/>
                </a:solidFill>
                <a:latin typeface="Malgun Gothic"/>
              </a:rPr>
              <a:t>AM Peak (Balance Index)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32004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출처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서울시 교통정보과 (열린데이터광장)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2015–2021 (분석: 2019년 Pre-COVID 기준)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대상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서울시 소재 지하철 역 (280개 역)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변수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역명 · 시간대별 승차/하차 · 호선 · 날짜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전처리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최하위 5% 저유동 역 제외 · 시간대 집계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Feature Engineering: Balance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승하차 균형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a:ea="Malgun Gothic">
                <a:solidFill>
                  <a:srgbClr val="17A2B8"/>
                </a:solidFill>
                <a:latin typeface="Malgun Gothic"/>
              </a:rPr>
              <a:t>Balance Index (승하차 균형지수)  =  (AM 하차 − AM 승차) / (AM 하차 + AM 승차)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FFFFFF"/>
                </a:solidFill>
                <a:latin typeface="Malgun Gothic"/>
              </a:rPr>
              <a:t>• AM Peak = 07:00–09:00 출근 시간대 승차/하차 데이터
• 음수(-) → 승차 &gt; 하차 → 출근 시간대 유출형 = 주거 지역
• 양수(+) → 하차 &gt; 승차 → 출근 시간대 유입형 = 업무 지역
• 0에 가까움 → 승하차 균형 = 복합(주거+업무) 지역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ea="Malgun Gothic">
                <a:solidFill>
                  <a:srgbClr val="BDC3C7"/>
                </a:solidFill>
                <a:latin typeface="Malgun Gothic"/>
              </a:rPr>
              <a:t>Balance Index 분포 (280개 역)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3291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a:ea="Malgun Gothic">
                <a:solidFill>
                  <a:srgbClr val="FFFFFF"/>
                </a:solidFill>
                <a:latin typeface="Malgun Gothic"/>
              </a:rPr>
              <a:t>주거 타운 (144개)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4526280"/>
            <a:ext cx="329184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4343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a:ea="Malgun Gothic">
                <a:solidFill>
                  <a:srgbClr val="FFFFFF"/>
                </a:solidFill>
                <a:latin typeface="Malgun Gothic"/>
              </a:rPr>
              <a:t>복합 타운 (78개)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5029200"/>
            <a:ext cx="329184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a:ea="Malgun Gothic">
                <a:solidFill>
                  <a:srgbClr val="FFFFFF"/>
                </a:solidFill>
                <a:latin typeface="Malgun Gothic"/>
              </a:rPr>
              <a:t>오피스 타운 (58개)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669280"/>
            <a:ext cx="10515600" cy="640080"/>
          </a:xfrm>
          <a:prstGeom prst="rect">
            <a:avLst/>
          </a:prstGeom>
          <a:solidFill>
            <a:srgbClr val="34495E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a:ea="Malgun Gothic">
                <a:solidFill>
                  <a:srgbClr val="17A2B8"/>
                </a:solidFill>
                <a:latin typeface="Malgun Gothic"/>
              </a:rPr>
              <a:t>Insight: 단순 유동인구(총 이용객)가 아닌 '방향성'이 입지 특성을 결정 — 오피스 타운은 총 이용객이 가장 많지만, 퇴근 이후 급감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K-Means Clustering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Balance Index 기준 3개 군집 분류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4754880"/>
          </a:xfrm>
          <a:prstGeom prst="rect">
            <a:avLst/>
          </a:prstGeom>
          <a:solidFill>
            <a:srgbClr val="1B2A4A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a:ea="Malgun Gothic">
                <a:solidFill>
                  <a:srgbClr val="27AE60"/>
                </a:solidFill>
                <a:latin typeface="Malgun Gothic"/>
              </a:rPr>
              <a:t>주거 타운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144개 역 (51.4%)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BDC3C7"/>
                </a:solidFill>
                <a:latin typeface="Malgun Gothic"/>
              </a:rPr>
              <a:t>Residential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AM 승차 &gt;&gt; AM 하차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출근 시간대 유출형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Balance Index: -0.79 ~ -0.05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야간/주말 유동 풍부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371600"/>
            <a:ext cx="3474720" cy="4754880"/>
          </a:xfrm>
          <a:prstGeom prst="rect">
            <a:avLst/>
          </a:prstGeom>
          <a:solidFill>
            <a:srgbClr val="1B2A4A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371600"/>
            <a:ext cx="347472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a:ea="Malgun Gothic">
                <a:solidFill>
                  <a:srgbClr val="2E86C1"/>
                </a:solidFill>
                <a:latin typeface="Malgun Gothic"/>
              </a:rPr>
              <a:t>복합 타운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78개 역 (27.9%)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BDC3C7"/>
                </a:solidFill>
                <a:latin typeface="Malgun Gothic"/>
              </a:rPr>
              <a:t>Mixed / Hybrid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AM 승차 ≈ AM 하차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승하차 균형형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Balance Index: -0.04 ~ +0.34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전 시간대 안정적 유동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19" y="1371600"/>
            <a:ext cx="3474720" cy="4754880"/>
          </a:xfrm>
          <a:prstGeom prst="rect">
            <a:avLst/>
          </a:prstGeom>
          <a:solidFill>
            <a:srgbClr val="1B2A4A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19" y="1371600"/>
            <a:ext cx="347472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a:ea="Malgun Gothic">
                <a:solidFill>
                  <a:srgbClr val="E67E22"/>
                </a:solidFill>
                <a:latin typeface="Malgun Gothic"/>
              </a:rPr>
              <a:t>오피스 타운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58개 역 (20.7%)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BDC3C7"/>
                </a:solidFill>
                <a:latin typeface="Malgun Gothic"/>
              </a:rPr>
              <a:t>Office / Business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AM 하차 &gt;&gt; AM 승차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출근 시간대 유입형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Balance Index: +0.35 ~ +0.90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주간 유동 집중 · 야간 급감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Cluster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유형별 핵심 지표 비교 (평균값)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2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주거 타운
(n=144)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복합 타운
(n=78)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오피스 타운
(n=58)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AM 승차 (07-09)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115,523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79,094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43,901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AM 하차 (07-09)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38,653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89,537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242,419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총 이용객 (일일)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936,774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1,218,963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1,895,010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Balance Index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-0.50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+0.00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+1.00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Golden Hour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08-09시
(출근 승차)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18-19시
(퇴근 하차)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18-19시
(퇴근 하차)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대표 역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사당 · 신림
신도림 · 서울대입구 · 노원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잠실 · 홍대입구
고속터미널 · 건대입구
구로디지털단지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강남 · 서울역
선릉 · 종로3가
삼성(무역센터)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Kruskal-Wallis Test · Effect Size · ANOVA Cross-validation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22860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17A2B8"/>
                </a:solidFill>
                <a:latin typeface="Malgun Gothic"/>
              </a:rPr>
              <a:t>Kruskal-Wallis H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FFFFFF"/>
                </a:solidFill>
                <a:latin typeface="Malgun Gothic"/>
              </a:rPr>
              <a:t>H-statistic = 41.598
p-value = 9.27 × 10⁻¹⁰
→ 세 군집 간 Balance Index 분포에
   통계적으로 유의한 차이 존재
   (p &lt; 0.001)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474720" cy="22860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474720" cy="54864"/>
          </a:xfrm>
          <a:prstGeom prst="rect">
            <a:avLst/>
          </a:prstGeom>
          <a:solidFill>
            <a:srgbClr val="38A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81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38A39E"/>
                </a:solidFill>
                <a:latin typeface="Malgun Gothic"/>
              </a:rPr>
              <a:t>Effect Size (η²_H)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FFFFFF"/>
                </a:solidFill>
                <a:latin typeface="Malgun Gothic"/>
              </a:rPr>
              <a:t>η²_H = 0.143
→ Large Effect Size
   (Cohen's 기준: 0.01 small,
    0.06 medium, 0.14 large)
→ 분류의 실질적 의미 확보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22860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81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E67E22"/>
                </a:solidFill>
                <a:latin typeface="Malgun Gothic"/>
              </a:rPr>
              <a:t>ANOVA + Tukey HSD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288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FFFFFF"/>
                </a:solidFill>
                <a:latin typeface="Malgun Gothic"/>
              </a:rPr>
              <a:t>Parametric Cross-validation
• Log-transformed Balance Index
• F = 26.48, p &lt; 0.001
• 모든 쌍별 비교 유의 (p &lt; 0.01)
→ 비모수/모수 검증 모두 일관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11155680" cy="2286000"/>
          </a:xfrm>
          <a:prstGeom prst="rect">
            <a:avLst/>
          </a:prstGeom>
          <a:solidFill>
            <a:srgbClr val="34495E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a:ea="Malgun Gothic">
                <a:solidFill>
                  <a:srgbClr val="17A2B8"/>
                </a:solidFill>
                <a:latin typeface="Malgun Gothic"/>
              </a:rPr>
              <a:t>Construct Validity Cross-validation: PM Index (13-15시) 로그 회귀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• PM_Index = (PM 승차 − PM 하차) / (PM 승차 + PM 하차) — 오후 시간대 균형 지표
• 세 군집 간 PM_Index 분포 차이: Kruskal-Wallis H = 32.47, p = 8.87 × 10⁻⁸
• Balance Index → PM_Index 선형 회귀: R² = 0.42, slope = 0.65 (p &lt; 0.001)
• Balance Index → 총 이용객 로그 회귀: slope = 0.31 (p &lt; 0.001)
→ Balance Index는 단일 시간대가 아닌 일일 전체 패턴을 대표하며, 유동 규모와도 유의한 관계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Golden Hour &amp; Hourly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시간대별 유동 패턴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Malgun Gothic">
                <a:solidFill>
                  <a:srgbClr val="27AE60"/>
                </a:solidFill>
                <a:latin typeface="Malgun Gothic"/>
              </a:rPr>
              <a:t>주거 타운 (Residential)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Peak: 08-09시 (출근)
• 오전 08시 급격한 승차 ↑
• 오후 18시 이후 하차 ↑ (귀가)
• 주간 상대적 혼잡도 낮음
→ Pop-up 적시: 18시-21시
  (귀가길 유동 활용)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Malgun Gothic">
                <a:solidFill>
                  <a:srgbClr val="2E86C1"/>
                </a:solidFill>
                <a:latin typeface="Malgun Gothic"/>
              </a:rPr>
              <a:t>복합 타운 (Mixed)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Peak: 18-19시 (퇴근)
• 오전/오후 균형 잡힌 승하차
• 주말 유동도 풍부
• 전 시간대 안정적 유지
→ Pop-up 적시:全日 (전 시간대)
  특히 12-14시 + 18-21시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Malgun Gothic">
                <a:solidFill>
                  <a:srgbClr val="E67E22"/>
                </a:solidFill>
                <a:latin typeface="Malgun Gothic"/>
              </a:rPr>
              <a:t>오피스 타운 (Office)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Peak: 18-19시 (퇴근) + 12-14시 (점심)
• 오전 08-09시 하차 집중 (출근)
• 12-14시 점심 유동 (minor peak)
• 퇴근 시간 18-19시 최대 하차
• 21시 이후 급감
→ Pop-up 적시: 12-14 (점심)
  + 18-20 (퇴근) + 주말 기획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89120"/>
            <a:ext cx="11155680" cy="2103120"/>
          </a:xfrm>
          <a:prstGeom prst="rect">
            <a:avLst/>
          </a:prstGeom>
          <a:solidFill>
            <a:srgbClr val="34495E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ea="Malgun Gothic">
                <a:solidFill>
                  <a:srgbClr val="17A2B8"/>
                </a:solidFill>
                <a:latin typeface="Malgun Gothic"/>
              </a:rPr>
              <a:t>시간대별 Pop-up Store 운영 적합도 매트릭스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4846320"/>
          <a:ext cx="10789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1078992"/>
                <a:gridCol w="1078992"/>
                <a:gridCol w="1078992"/>
                <a:gridCol w="1078992"/>
                <a:gridCol w="1078992"/>
                <a:gridCol w="1078992"/>
                <a:gridCol w="1078992"/>
                <a:gridCol w="1078992"/>
                <a:gridCol w="107899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시간대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06-08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08-10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10-12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12-14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14-16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16-18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18-20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20-22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22-24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주거 타운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복합 타운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오피스 타운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●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3152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ea="Malgun Gothic">
                <a:solidFill>
                  <a:srgbClr val="BDC3C7"/>
                </a:solidFill>
                <a:latin typeface="Malgun Gothic"/>
              </a:rPr>
              <a:t>● = 적합  |  ○ = 보통  |  공백 = 부적합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Top-5 Recommended Locations by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유형별 팝업스토어 최적 입지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Malgun Gothic">
                <a:solidFill>
                  <a:srgbClr val="27AE60"/>
                </a:solidFill>
                <a:latin typeface="Malgun Gothic"/>
              </a:rPr>
              <a:t>🏠 주거 타운 Top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1. 사당 — 유동 1,461,723 | BI -0.50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2. 신림 — 유동 1,805,397 | BI -0.62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3. 신도림 — 유동 1,597,350 | BI -0.52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4. 서울대입구 — 유동 1,196,089 | BI -0.66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5. 노원 — 유동 1,159,115 | BI -0.59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Malgun Gothic">
                <a:solidFill>
                  <a:srgbClr val="2E86C1"/>
                </a:solidFill>
                <a:latin typeface="Malgun Gothic"/>
              </a:rPr>
              <a:t>🏢 복합 타운 Top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1. 잠실(송파구청) — 유동 3,860,697 | BI -0.03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48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2. 홍대입구 — 유동 3,199,958 | BI +0.01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3. 고속터미널 — 유동 3,039,774 | BI +0.16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4. 건대입구 — 유동 2,813,185 | BI -0.02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5. 구로디지털단지 — 유동 2,029,589 | BI +0.07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Malgun Gothic">
                <a:solidFill>
                  <a:srgbClr val="E67E22"/>
                </a:solidFill>
                <a:latin typeface="Malgun Gothic"/>
              </a:rPr>
              <a:t>🏬 오피스 타운 Top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1. 강남 — 유동 3,897,128 | BI +0.38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48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2. 서울역 — 유동 3,559,440 | BI +0.42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3. 선릉 — 유동 2,187,353 | BI +0.41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4. 종로3가 — 유동 2,468,375 | BI +0.55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5. 삼성(무역센터) — 유동 1,958,635 | BI +0.60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11155680" cy="2286000"/>
          </a:xfrm>
          <a:prstGeom prst="rect">
            <a:avLst/>
          </a:prstGeom>
          <a:solidFill>
            <a:srgbClr val="34495E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ea="Malgun Gothic">
                <a:solidFill>
                  <a:srgbClr val="17A2B8"/>
                </a:solidFill>
                <a:latin typeface="Malgun Gothic"/>
              </a:rPr>
              <a:t>추천 우선순위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① 해당 유형의 대표성 (Balance Index가 유형 중앙값에 근접)
② 총 이용객 규모 (Pop-up은 충분한 유동인구 필요)
③ 유형 내 Golden Hour와 Pop-up 운영 시간의 정합성
④ 인근 경쟁 팝업 / 상권 밀도 고려 (실무 적용시 추가 분석 필요)
→ 강남/잠실은 절대 유동 1위이지만 유형별 특성이 다르므로, 동일 전략 적용은 비효율적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Interactive Location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Folium 기반 서울시 지하철 역 유형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Malgun Gothic">
                <a:solidFill>
                  <a:srgbClr val="FFFFFF"/>
                </a:solidFill>
                <a:latin typeface="Malgun Gothic"/>
              </a:rPr>
              <a:t>서울시 전체 280개 역의 K-Means 분류 결과를 Folium Interactive Map으로 시각화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a:ea="Malgun Gothic">
                <a:solidFill>
                  <a:srgbClr val="FFFFFF"/>
                </a:solidFill>
                <a:latin typeface="Malgun Gothic"/>
              </a:rPr>
              <a:t>Map Features:
• Color-coded markers:
  - 🟢 주거 타운 (Green)
  - 🔵 복합 타운 (Blue)
  - 🟠 오피스 타운 (Orange)
• CircleMarker size = 총 이용객 규모 비례
• Popup: 역명 · 유형 · Balance Index ·
  총 이용객 · Golden Hour 정보
• Clustering: MarkerCluster로 혼잡한
  도심 지역 가독성 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a:ea="Malgun Gothic">
                <a:solidFill>
                  <a:srgbClr val="FFFFFF"/>
                </a:solidFill>
                <a:latin typeface="Malgun Gothic"/>
              </a:rPr>
              <a:t>패턴 인사이트:
• 도심권 (종로/을지로/광화문):
  오피스 타운 밀집 (출근 유입형)
• 강남권 (강남/서초/선릉/삼성):
  오피스 + 일부 복합 혼재
• 외곽권 (노원/도봉/금천/강서):
  주거 타운 우세 (출근 유출형)
• 홍대/건대/신촌:
  복합 타운 — 유동인구 풍부,
  주야 균형 우수 → 팝업 최적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solidFill>
            <a:srgbClr val="34495E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17A2B8"/>
                </a:solidFill>
                <a:latin typeface="Malgun Gothic"/>
              </a:rPr>
              <a:t>※ 실제 PPT 제출 시 Folium HTML 파일 (.html) 또는 스크린샷 이미지를 첨부하여 시각적 효과 극대화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Strategy Matrix: 상권 유형 × Pop-up Store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유형별 운영 전략 및 마케팅 방향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0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전략 차원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주거 타운 (Residential)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복합 타운 (Mixed)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오피스 타운 (Office)</a:t>
                      </a:r>
                    </a:p>
                  </a:txBody>
                  <a:tcPr anchor="ctr">
                    <a:solidFill>
                      <a:srgbClr val="E67E22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핵심 Concept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편의성 + 정서적 경험
(Convenience + Emotion)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트렌드 + 경험
(Trend + Experience)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효율성 + 프리미엄
(Efficiency + Premium)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운영 시간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18:00 ~ 21:00
(금·토·일 연장)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전일 운영
(12:00 ~ 21:00)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12:00 ~ 14:00
+ 18:00 ~ 20:00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추천 업종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생필품 · 식품 · 육아
· 반려동물 · 홈리빙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패션 · 뷰티 · F&amp;B
· 팝업 전시 · 체험형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건강식 · 커피 · 도서
· 와인 · 프리미엄 간편식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마케팅 전략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커뮤니티 연계
(카카오톡 · 아파트 커뮤니티)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SNS · 인플루언서
(인스타 · 틱톡 · 블로그)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B2B · 오피스 네트워크
(점심시간 타겟) 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가격 전략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합리적 가격
(가성비 중심)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중간 가격대
(트렌디한 가성비)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프리미엄 가격
(퀄리티 중심)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기대 효과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주민 충성도 ↑
재방문율 ↑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바이럴 효과 ↑
MZ세대 공략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a:ea="Malgun Gothic">
                          <a:solidFill>
                            <a:srgbClr val="FFFFFF"/>
                          </a:solidFill>
                          <a:latin typeface="Malgun Gothic"/>
                        </a:rPr>
                        <a:t>직장인 수요 포착
점심/퇴근 매출 집중</a:t>
                      </a:r>
                    </a:p>
                  </a:txBody>
                  <a:tcPr anchor="ctr">
                    <a:solidFill>
                      <a:srgbClr val="3449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Dynamic Strategy: 시간대 · 계절 · 요일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입지 유형별 차별화된 실행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45720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38A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ea="Malgun Gothic">
                <a:solidFill>
                  <a:srgbClr val="38A39E"/>
                </a:solidFill>
                <a:latin typeface="Malgun Gothic"/>
              </a:rPr>
              <a:t>시간대 대응 전략
(Temporal Adaptation)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주거: 귀가 시간 (18-21시) 집중 운영
복합: 전일 운영 (12-21시)
오피스: 점심(12-14) + 퇴근(18-20)
→ 유형별 Peak 시간에 운영 집중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743200" cy="45720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81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ea="Malgun Gothic">
                <a:solidFill>
                  <a:srgbClr val="2E86C1"/>
                </a:solidFill>
                <a:latin typeface="Malgun Gothic"/>
              </a:rPr>
              <a:t>요일별 전략
(Day-of-week Strategy)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주거: 평일 저녁 + 주말 집중
복합: 수~일요일 (주말 효과 극대)
오피스: 화~목 (재택 영향 최소화)
→ 주 5~6일 운영 시 유형별 요일 배분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743200" cy="45720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81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ea="Malgun Gothic">
                <a:solidFill>
                  <a:srgbClr val="17A2B8"/>
                </a:solidFill>
                <a:latin typeface="Malgun Gothic"/>
              </a:rPr>
              <a:t>계절/테마 전략
(Seasonal Theming)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주거: 봄/가을 (야외 활동↑) + 연말
복합: 시즌리스 (사계절 안정적)
오피스: 방학기간 점심 수요 변화 대응
→ 시즌별 MD 기획 및 공실률 고려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743200" cy="45720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371600"/>
            <a:ext cx="27432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481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ea="Malgun Gothic">
                <a:solidFill>
                  <a:srgbClr val="E67E22"/>
                </a:solidFill>
                <a:latin typeface="Malgun Gothic"/>
              </a:rPr>
              <a:t>Click &amp; Mortar 연계
(Online-Offline Bridge)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82880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주거: 퀵커머스 허브 + 체험형
복합: SNS 인증 + 오프라인 경험
오피스: 구독/정기배송 연계
→ 온라인-오프라인 시너지 극대화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Action Plan: 시나리오별 입지 추천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실제 비즈니스 시나리오 기반 실행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32004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ea="Malgun Gothic">
                <a:solidFill>
                  <a:srgbClr val="17A2B8"/>
                </a:solidFill>
                <a:latin typeface="Malgun Gothic"/>
              </a:rPr>
              <a:t>신규 브랜드 론칭
(인지도 확보)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복합 타운 (잠실/홍대입구/건대입구)
→ 전 시간대 유동 + SNS 바이럴 최적
→ MZ세대 타겟 체험형 팝업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743200" cy="32004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81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ea="Malgun Gothic">
                <a:solidFill>
                  <a:srgbClr val="17A2B8"/>
                </a:solidFill>
                <a:latin typeface="Malgun Gothic"/>
              </a:rPr>
              <a:t>재고 소진 / 시즌오프
(단기 매출)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주거 타운 (사당/신림/신도림)
→ 귀가길 충동구매 유도
→ 주말 연장 운영 + 가성비 전략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743200" cy="32004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81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ea="Malgun Gothic">
                <a:solidFill>
                  <a:srgbClr val="17A2B8"/>
                </a:solidFill>
                <a:latin typeface="Malgun Gothic"/>
              </a:rPr>
              <a:t>프리미엄 브랜딩
(고객 경험)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오피스 타운 (강남/선릉/삼성)
→ 점심시간 프리미엄 경험 제공
→ 직장인 NPS 기반 충성고객 확보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743200" cy="3200400"/>
          </a:xfrm>
          <a:prstGeom prst="rect">
            <a:avLst/>
          </a:prstGeom>
          <a:solidFill>
            <a:srgbClr val="1B2A4A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371600"/>
            <a:ext cx="2743200" cy="54864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481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ea="Malgun Gothic">
                <a:solidFill>
                  <a:srgbClr val="17A2B8"/>
                </a:solidFill>
                <a:latin typeface="Malgun Gothic"/>
              </a:rPr>
              <a:t>온라인 → 오프라인
(전환 촉진)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82880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FFFFF"/>
                </a:solidFill>
                <a:latin typeface="Malgun Gothic"/>
              </a:rPr>
              <a:t>복합 타운 (고속터미널/구로디지털)
→ Click &amp; Collect / 체험 → 구매 전환
→ 온라인 쿠폰 + 오프라인 경험 연계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11430000" cy="1371600"/>
          </a:xfrm>
          <a:prstGeom prst="rect">
            <a:avLst/>
          </a:prstGeom>
          <a:solidFill>
            <a:srgbClr val="34495E"/>
          </a:solidFill>
          <a:ln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ea="Malgun Gothic">
                <a:solidFill>
                  <a:srgbClr val="17A2B8"/>
                </a:solidFill>
                <a:latin typeface="Malgun Gothic"/>
              </a:rPr>
              <a:t>의사결정 프레임워크: 3-Step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Malgun Gothic">
                <a:solidFill>
                  <a:srgbClr val="FFFFFF"/>
                </a:solidFill>
                <a:latin typeface="Malgun Gothic"/>
              </a:rPr>
              <a:t>Step 1. 브랜드 목적 정의 (인지도 / 매출 / 경험 / 전환)
Step 2. 목적에 맞는 상권 유형 선택 (복합 / 주거 / 오피스)
Step 3. 유형 내 Top-5 역에서 구체적 입지 선정 (임대료 · 공실 · 경쟁 분석 병행)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Malgun Gothic">
                <a:solidFill>
                  <a:srgbClr val="FFFFFF"/>
                </a:solidFill>
                <a:latin typeface="Malgun Gothic"/>
              </a:rPr>
              <a:t>Conclusion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요약 및 시사점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82296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Malgun Gothic">
                <a:solidFill>
                  <a:srgbClr val="17A2B8"/>
                </a:solidFill>
                <a:latin typeface="Malgun Gothic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Malgun Gothic">
                <a:solidFill>
                  <a:srgbClr val="FFFFFF"/>
                </a:solidFill>
                <a:latin typeface="Malgun Gothic"/>
              </a:rPr>
              <a:t>Indicator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716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2F4F6"/>
                </a:solidFill>
                <a:latin typeface="Malgun Gothic"/>
              </a:rPr>
              <a:t>단순 유동인구(총 이용객)가 아닌 승하차 방향성(Balance Index)이
상권 유형을 결정하는 핵심 지표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73152" cy="82296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Malgun Gothic">
                <a:solidFill>
                  <a:srgbClr val="17A2B8"/>
                </a:solidFill>
                <a:latin typeface="Malgun Gothic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Malgun Gothic">
                <a:solidFill>
                  <a:srgbClr val="FFFFFF"/>
                </a:solidFill>
                <a:latin typeface="Malgun Gothic"/>
              </a:rPr>
              <a:t>3 Types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774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2F4F6"/>
                </a:solidFill>
                <a:latin typeface="Malgun Gothic"/>
              </a:rPr>
              <a:t>서울시 지하철 280개 역 → 주거(144) · 복합(78) · 오피스(58)
K-Means + Kruskal-Wallis + ANOVA (삼중 검증 완료)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73152" cy="82296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Malgun Gothic">
                <a:solidFill>
                  <a:srgbClr val="17A2B8"/>
                </a:solidFill>
                <a:latin typeface="Malgun Gothic"/>
              </a:rPr>
              <a:t>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Malgun Gothic">
                <a:solidFill>
                  <a:srgbClr val="FFFFFF"/>
                </a:solidFill>
                <a:latin typeface="Malgun Gothic"/>
              </a:rPr>
              <a:t>Golden Hour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832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2F4F6"/>
                </a:solidFill>
                <a:latin typeface="Malgun Gothic"/>
              </a:rPr>
              <a:t>유형별 최적 운영 시간 상이 → 주거는 귀가시간, 오피스는 점심+퇴근,
복합은 전일 운영 → 동일 전략은 비효율적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73152" cy="82296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Malgun Gothic">
                <a:solidFill>
                  <a:srgbClr val="17A2B8"/>
                </a:solidFill>
                <a:latin typeface="Malgun Gothic"/>
              </a:rPr>
              <a:t>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Malgun Gothic">
                <a:solidFill>
                  <a:srgbClr val="FFFFFF"/>
                </a:solidFill>
                <a:latin typeface="Malgun Gothic"/>
              </a:rPr>
              <a:t>Location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3891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2F4F6"/>
                </a:solidFill>
                <a:latin typeface="Malgun Gothic"/>
              </a:rPr>
              <a:t>강남/잠실이 총 유동 1,2위지만 유형이 다르므로 차별화 전략 필요
→ '어디에'보다 '어떤 유형에'가 더 중요한 의사결정 기준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94960"/>
            <a:ext cx="73152" cy="82296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Malgun Gothic">
                <a:solidFill>
                  <a:srgbClr val="17A2B8"/>
                </a:solidFill>
                <a:latin typeface="Malgun Gothic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Malgun Gothic">
                <a:solidFill>
                  <a:srgbClr val="FFFFFF"/>
                </a:solidFill>
                <a:latin typeface="Malgun Gothic"/>
              </a:rPr>
              <a:t>Business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3949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ea="Malgun Gothic">
                <a:solidFill>
                  <a:srgbClr val="F2F4F6"/>
                </a:solidFill>
                <a:latin typeface="Malgun Gothic"/>
              </a:rPr>
              <a:t>팝업스토어 입지 선정 시 Balance Index 기반 분류를 활용하면
운영 시간 · MD · 가격 · 마케팅까지 통합 최적화 가능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217920"/>
            <a:ext cx="111556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a:ea="Malgun Gothic">
                <a:solidFill>
                  <a:srgbClr val="BDC3C7"/>
                </a:solidFill>
                <a:latin typeface="Malgun Gothic"/>
              </a:rPr>
              <a:t>감사합니다  |  Thank You  |  Data-Driven Pop-up Location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