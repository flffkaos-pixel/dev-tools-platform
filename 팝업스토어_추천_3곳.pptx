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이용객 수</c:v>
                </c:pt>
              </c:strCache>
            </c:strRef>
          </c:tx>
          <c:spPr>
            <a:solidFill>
              <a:srgbClr val="1B2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2호선</c:v>
                  </c:pt>
                  <c:pt idx="1">
                    <c:v>7호선</c:v>
                  </c:pt>
                  <c:pt idx="2">
                    <c:v>5호선</c:v>
                  </c:pt>
                  <c:pt idx="3">
                    <c:v>3호선</c:v>
                  </c:pt>
                  <c:pt idx="4">
                    <c:v>4호선</c:v>
                  </c:pt>
                  <c:pt idx="5">
                    <c:v>6호선</c:v>
                  </c:pt>
                  <c:pt idx="6">
                    <c:v>1호선</c:v>
                  </c:pt>
                  <c:pt idx="7">
                    <c:v>8호선</c:v>
                  </c:pt>
                  <c:pt idx="8">
                    <c:v>분당선</c:v>
                  </c:pt>
                  <c:pt idx="9">
                    <c:v>9호선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6850</c:v>
                </c:pt>
                <c:pt idx="1">
                  <c:v>4120</c:v>
                </c:pt>
                <c:pt idx="2">
                  <c:v>3850</c:v>
                </c:pt>
                <c:pt idx="3">
                  <c:v>3580</c:v>
                </c:pt>
                <c:pt idx="4">
                  <c:v>3490</c:v>
                </c:pt>
                <c:pt idx="5">
                  <c:v>2980</c:v>
                </c:pt>
                <c:pt idx="6">
                  <c:v>2720</c:v>
                </c:pt>
                <c:pt idx="7">
                  <c:v>2310</c:v>
                </c:pt>
                <c:pt idx="8">
                  <c:v>1980</c:v>
                </c:pt>
                <c:pt idx="9">
                  <c:v>1820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상권 유형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E"/>
              </a:solidFill>
              <a:effectLst/>
            </c:spPr>
          </c:dPt>
          <c:dPt>
            <c:idx val="1"/>
            <c:bubble3D val="0"/>
            <c:spPr>
              <a:solidFill>
                <a:srgbClr val="3B6FA8"/>
              </a:solidFill>
              <a:effectLst/>
            </c:spPr>
          </c:dPt>
          <c:dPt>
            <c:idx val="2"/>
            <c:bubble3D val="0"/>
            <c:spPr>
              <a:solidFill>
                <a:srgbClr val="E8B339"/>
              </a:solidFill>
              <a:effectLst/>
            </c:spPr>
          </c:dPt>
          <c:dPt>
            <c:idx val="3"/>
            <c:bubble3D val="0"/>
            <c:spPr>
              <a:solidFill>
                <a:srgbClr val="8FA876"/>
              </a:solidFill>
              <a:effectLst/>
            </c:spPr>
          </c:dPt>
          <c:dPt>
            <c:idx val="4"/>
            <c:bubble3D val="0"/>
            <c:spPr>
              <a:solidFill>
                <a:srgbClr val="00A84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강오피스</c:v>
                </c:pt>
                <c:pt idx="1">
                  <c:v>오피스</c:v>
                </c:pt>
                <c:pt idx="2">
                  <c:v>혼합</c:v>
                </c:pt>
                <c:pt idx="3">
                  <c:v>주거</c:v>
                </c:pt>
                <c:pt idx="4">
                  <c:v>강주거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68</c:v>
                </c:pt>
                <c:pt idx="1">
                  <c:v>84</c:v>
                </c:pt>
                <c:pt idx="2">
                  <c:v>152</c:v>
                </c:pt>
                <c:pt idx="3">
                  <c:v>233</c:v>
                </c:pt>
                <c:pt idx="4">
                  <c:v>71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029200" cy="5029200"/>
          </a:xfrm>
          <a:prstGeom prst="ellipse">
            <a:avLst/>
          </a:prstGeom>
          <a:solidFill>
            <a:srgbClr val="E85A4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114800"/>
            <a:ext cx="3200400" cy="3200400"/>
          </a:xfrm>
          <a:prstGeom prst="ellipse">
            <a:avLst/>
          </a:prstGeom>
          <a:solidFill>
            <a:srgbClr val="00A84D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RECOMMENDATION  ·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식음료 팝업 스토어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입지 3곳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승하차 데이터로 찾은 최적의 입지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1280160" cy="0"/>
          </a:xfrm>
          <a:prstGeom prst="line">
            <a:avLst/>
          </a:prstGeom>
          <a:noFill/>
          <a:ln w="31750">
            <a:solidFill>
              <a:srgbClr val="E85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46177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0F1A33"/>
          </a:solidFill>
          <a:ln w="9525">
            <a:solidFill>
              <a:srgbClr val="3B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  수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" y="5623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성지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46177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0F1A33"/>
          </a:solidFill>
          <a:ln w="9525">
            <a:solidFill>
              <a:srgbClr val="3B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3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5074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홍대입구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11880" y="5623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MZ 트렌드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6177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0F1A33"/>
          </a:solidFill>
          <a:ln w="9525">
            <a:solidFill>
              <a:srgbClr val="3B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5074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  남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55080" y="5623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 ·  서울시 지하철 호선별 역별 승하차 인원 정보  (2021.06)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29768"/>
            <a:ext cx="283464" cy="283464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74352" y="42976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1268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프레젠테이션 목차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868680" cy="713232"/>
          </a:xfrm>
          <a:prstGeom prst="roundRect">
            <a:avLst>
              <a:gd name="adj" fmla="val 6410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19933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&amp; 문제정의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9164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SCQA 프레임으로 본 팝업스토어 입지 선정의 문제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 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868680" cy="713232"/>
          </a:xfrm>
          <a:prstGeom prst="roundRect">
            <a:avLst>
              <a:gd name="adj" fmla="val 6410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8036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28620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9164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호선별·역별 이용객 수와 상권 유형 분류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0" y="30449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 04 – 06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868680" cy="713232"/>
          </a:xfrm>
          <a:prstGeom prst="roundRect">
            <a:avLst>
              <a:gd name="adj" fmla="val 6410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4904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37307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입지 3곳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69164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성수·홍대입구·강남 추천 사유와 지도 시각화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58400" y="3913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 07 – 08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868680" cy="713232"/>
          </a:xfrm>
          <a:prstGeom prst="roundRect">
            <a:avLst>
              <a:gd name="adj" fmla="val 6410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61772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91640" y="45994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전략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69164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역별 시간대·타겟·운영 전략 차별화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58400" y="4782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 09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868680" cy="713232"/>
          </a:xfrm>
          <a:prstGeom prst="roundRect">
            <a:avLst>
              <a:gd name="adj" fmla="val 6410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48640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91640" y="54681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요약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169164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인사이트 및 다음 단계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058400" y="5650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 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29768"/>
            <a:ext cx="283464" cy="283464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74352" y="42976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1268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및 문제정의 — SCQA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Situation · Complication · Question · Answer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560320"/>
            <a:ext cx="594360" cy="59436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2606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Situation — 상황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246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5년간 국내 팝업스토어 시장은 연평균 30% 이상 성장. F&amp;B는 그 중 가장 큰 비중을 차지하는 카테고리이며, 브랜드 인지도 확보와 신제품 테스트 채널로 자리잡음.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560320"/>
            <a:ext cx="594360" cy="59436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2606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Complication — 문제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임대료는 폭등하고 경쟁은 격화. 직감과 트렌드만으로 입지를 정하면 1주일 만에 손익이 갈림. 데이터 기반의 객관적 입지 선정 프로세스가 부재함.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617720"/>
            <a:ext cx="594360" cy="594360"/>
          </a:xfrm>
          <a:prstGeom prst="ellipse">
            <a:avLst/>
          </a:prstGeom>
          <a:solidFill>
            <a:srgbClr val="E8B339"/>
          </a:solidFill>
          <a:ln w="12700">
            <a:solidFill>
              <a:srgbClr val="E8B3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17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4663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 — 질문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303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지하철역 근처가 식음료 팝업스토어에 가장 적합한가? 유동인구의 양뿐만 아니라 시간대·요일·상권 성격까지 고려한 최적의 입지는 어디인가?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3434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B2A4E"/>
          </a:solidFill>
          <a:ln w="9525">
            <a:solidFill>
              <a:srgbClr val="1B2A4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617720"/>
            <a:ext cx="594360" cy="594360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617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4663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 — 답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2240" y="5303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지하철 승하차 데이터로 유동인구·시간대 패턴·상권 유형을 분석. 성수·홍대입구·강남 — 각각 다른 강점을 가진 3곳을 데이터 기반으로 도출함.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29768"/>
            <a:ext cx="283464" cy="283464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74352" y="42976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1268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호선별 이용객 수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호선에 사람이 가장 많이 몰리는가 — 2호선 압도적 1위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2286000"/>
          <a:ext cx="7589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503920" y="2286000"/>
            <a:ext cx="3108960" cy="3931920"/>
          </a:xfrm>
          <a:prstGeom prst="roundRect">
            <a:avLst>
              <a:gd name="adj" fmla="val 2353"/>
            </a:avLst>
          </a:prstGeom>
          <a:solidFill>
            <a:srgbClr val="F5F1E8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인사이트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3252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2호선 = 팝업의 정답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732520" y="3337560"/>
            <a:ext cx="265176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32520" y="347472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3곳 중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2곳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2호선: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 · 강남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1곳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2·6호선 환승: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홍대입구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유동량 1위 호선에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접근성이 곧 매출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29768"/>
            <a:ext cx="283464" cy="283464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74352" y="42976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1268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02.2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역별 평균 승차 인원 Top 10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강남·홍대입구 등 추천 후보 역이 Top 10에 포진 — 절대적 볼륨 확인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2487168"/>
            <a:ext cx="4937760" cy="201168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79,850명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32520" y="2487168"/>
            <a:ext cx="548640" cy="201168"/>
          </a:xfrm>
          <a:prstGeom prst="roundRect">
            <a:avLst>
              <a:gd name="adj" fmla="val 13636"/>
            </a:avLst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2487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8960" y="2852928"/>
            <a:ext cx="4045438" cy="20116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5838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65,420명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3218688"/>
            <a:ext cx="3475911" cy="20116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6311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56,210명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구로디지털단지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08960" y="3584448"/>
            <a:ext cx="3177234" cy="20116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7634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51,380명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886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홍대입구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08960" y="3950208"/>
            <a:ext cx="3028204" cy="201168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8604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48,970명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732520" y="3950208"/>
            <a:ext cx="548640" cy="201168"/>
          </a:xfrm>
          <a:prstGeom prst="roundRect">
            <a:avLst>
              <a:gd name="adj" fmla="val 13636"/>
            </a:avLst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2520" y="3950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4251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8872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08960" y="4315968"/>
            <a:ext cx="2728290" cy="20116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2869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44,120명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617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8872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108960" y="4681728"/>
            <a:ext cx="2569985" cy="20116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70385" y="4617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41,560명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4983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88720" y="4983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역삼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108960" y="5047488"/>
            <a:ext cx="2462387" cy="20116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2787" y="4983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39,820명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5349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88720" y="5349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신도림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108960" y="5413248"/>
            <a:ext cx="2377669" cy="20116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8069" y="5349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38,450명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5715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188720" y="5715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성수*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108960" y="5779008"/>
            <a:ext cx="2286149" cy="201168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549" y="5715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36,970명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732520" y="5779008"/>
            <a:ext cx="548640" cy="201168"/>
          </a:xfrm>
          <a:prstGeom prst="roundRect">
            <a:avLst>
              <a:gd name="adj" fmla="val 13636"/>
            </a:avLst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32520" y="5779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509760" y="2377440"/>
            <a:ext cx="2103120" cy="3749040"/>
          </a:xfrm>
          <a:prstGeom prst="roundRect">
            <a:avLst>
              <a:gd name="adj" fmla="val 2609"/>
            </a:avLst>
          </a:prstGeom>
          <a:solidFill>
            <a:srgbClr val="F5F1E8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46920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692640" y="3200400"/>
            <a:ext cx="173736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4692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964692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10 중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3곳이 추천 입지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646920" y="4572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홍대입구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성수*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성수역은 Top 10 경계권이나 팝업 적합도(주말 MZ 유입·상권 다양성)에서 강점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29768"/>
            <a:ext cx="283464" cy="283464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74352" y="42976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1268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02.3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상권 유형 분류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출근·퇴근 시간대 승하차 비율로 608개 역을 5가지 상권 유형으로 분류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2286000"/>
          <a:ext cx="4389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64592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608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645920" y="4343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역 수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비중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60120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추천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94960" y="2606040"/>
            <a:ext cx="621792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94960" y="2907792"/>
            <a:ext cx="228600" cy="22860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강오피스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715000" y="3035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≥ 3.0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58000" y="2743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800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(68개)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772400" y="2926080"/>
            <a:ext cx="476451" cy="164592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01200" y="2862072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F8E5E3"/>
          </a:solidFill>
          <a:ln w="6350">
            <a:solidFill>
              <a:srgbClr val="E85A4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01200" y="28620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394960" y="3593592"/>
            <a:ext cx="228600" cy="228600"/>
          </a:xfrm>
          <a:prstGeom prst="ellipse">
            <a:avLst/>
          </a:prstGeom>
          <a:solidFill>
            <a:srgbClr val="3B6FA8"/>
          </a:solidFill>
          <a:ln w="12700">
            <a:solidFill>
              <a:srgbClr val="3B6F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15000" y="3429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715000" y="3721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1.5 – 3.0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58000" y="3429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14%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58000" y="3721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(84개)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772400" y="3611880"/>
            <a:ext cx="606392" cy="164592"/>
          </a:xfrm>
          <a:prstGeom prst="rect">
            <a:avLst/>
          </a:prstGeom>
          <a:solidFill>
            <a:srgbClr val="3B6FA8"/>
          </a:solidFill>
          <a:ln w="12700">
            <a:solidFill>
              <a:srgbClr val="3B6FA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01200" y="3547872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F8E5E3"/>
          </a:solidFill>
          <a:ln w="6350">
            <a:solidFill>
              <a:srgbClr val="E85A4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01200" y="35478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394960" y="4279392"/>
            <a:ext cx="228600" cy="228600"/>
          </a:xfrm>
          <a:prstGeom prst="ellipse">
            <a:avLst/>
          </a:prstGeom>
          <a:solidFill>
            <a:srgbClr val="E8B339"/>
          </a:solidFill>
          <a:ln w="12700">
            <a:solidFill>
              <a:srgbClr val="E8B33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1500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715000" y="4407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0.7 – 1.5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0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858000" y="44074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(152개)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772400" y="4297680"/>
            <a:ext cx="1082842" cy="164592"/>
          </a:xfrm>
          <a:prstGeom prst="rect">
            <a:avLst/>
          </a:prstGeom>
          <a:solidFill>
            <a:srgbClr val="E8B339"/>
          </a:solidFill>
          <a:ln w="12700">
            <a:solidFill>
              <a:srgbClr val="E8B33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601200" y="4233672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F8E5E3"/>
          </a:solidFill>
          <a:ln w="6350">
            <a:solidFill>
              <a:srgbClr val="E85A4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601200" y="42336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홍대입구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394960" y="4965192"/>
            <a:ext cx="228600" cy="228600"/>
          </a:xfrm>
          <a:prstGeom prst="ellipse">
            <a:avLst/>
          </a:prstGeom>
          <a:solidFill>
            <a:srgbClr val="8FA876"/>
          </a:solidFill>
          <a:ln w="12700">
            <a:solidFill>
              <a:srgbClr val="8FA87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15000" y="4800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715000" y="5093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0.3 – 0.7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858000" y="4800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38%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6858000" y="5093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(233개)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772400" y="4983480"/>
            <a:ext cx="1645920" cy="164592"/>
          </a:xfrm>
          <a:prstGeom prst="rect">
            <a:avLst/>
          </a:prstGeom>
          <a:solidFill>
            <a:srgbClr val="8FA876"/>
          </a:solidFill>
          <a:ln w="12700">
            <a:solidFill>
              <a:srgbClr val="8FA87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601200" y="4919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394960" y="5650992"/>
            <a:ext cx="228600" cy="228600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15000" y="5486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강주거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715000" y="5779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&lt; 0.3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858000" y="5486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12%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6858000" y="5779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(71개)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7772400" y="5669280"/>
            <a:ext cx="519764" cy="164592"/>
          </a:xfrm>
          <a:prstGeom prst="rect">
            <a:avLst/>
          </a:prstGeom>
          <a:solidFill>
            <a:srgbClr val="00A84D"/>
          </a:solidFill>
          <a:ln w="12700">
            <a:solidFill>
              <a:srgbClr val="00A84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601200" y="56052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추천 3곳은 서로 다른 3가지 상권 유형을 대표 (분산 + 다각화)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29768"/>
            <a:ext cx="283464" cy="283464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74352" y="42976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1268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팝업 스토어 입지 3곳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상권 유형에서 데이터로 검증된 최적 입지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94560"/>
            <a:ext cx="3566160" cy="118872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성지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907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  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3464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비율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4.8×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14600" y="3566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유동인구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1460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104만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301752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80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컨셉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한정판 콜라보 카페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212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사유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60120" y="5504688"/>
            <a:ext cx="73152" cy="73152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54406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팝업스토어 검증된 인프라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0120" y="5797296"/>
            <a:ext cx="73152" cy="73152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57332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확산력 최상위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0120" y="6089904"/>
            <a:ext cx="73152" cy="73152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60258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임대 단기 매물 풍부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34840" y="21945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2194560"/>
            <a:ext cx="3566160" cy="118872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B3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MZ 트렌드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2907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홍대입구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62940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공항철도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3566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오피스/주거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1.2×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309360" y="3566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유동인구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115만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4709160" y="4343400"/>
            <a:ext cx="301752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480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3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컨셉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디저트·브런치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09160" y="5212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3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사유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5504688"/>
            <a:ext cx="73152" cy="73152"/>
          </a:xfrm>
          <a:prstGeom prst="ellipse">
            <a:avLst/>
          </a:prstGeom>
          <a:solidFill>
            <a:srgbClr val="E8B339"/>
          </a:solidFill>
          <a:ln w="12700">
            <a:solidFill>
              <a:srgbClr val="E8B33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54406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MZ 밀도 전국 최고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5797296"/>
            <a:ext cx="73152" cy="73152"/>
          </a:xfrm>
          <a:prstGeom prst="ellipse">
            <a:avLst/>
          </a:prstGeom>
          <a:solidFill>
            <a:srgbClr val="E8B339"/>
          </a:solidFill>
          <a:ln w="12700">
            <a:solidFill>
              <a:srgbClr val="E8B33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57332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특수 효과 강력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6089904"/>
            <a:ext cx="73152" cy="73152"/>
          </a:xfrm>
          <a:prstGeom prst="ellipse">
            <a:avLst/>
          </a:prstGeom>
          <a:solidFill>
            <a:srgbClr val="E8B339"/>
          </a:solidFill>
          <a:ln w="12700">
            <a:solidFill>
              <a:srgbClr val="E8B33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60258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인증샷·바이럴 최적지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0" y="21945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29600" y="2194560"/>
            <a:ext cx="3566160" cy="118872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50392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503920" y="2907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  남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1042416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2호선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0" y="3566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비율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50392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3.1×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10104120" y="3566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유동인구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10412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194만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8503920" y="4343400"/>
            <a:ext cx="301752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03920" y="4480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컨셉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50392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티·F&amp;B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503920" y="5212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사유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549640" y="5504688"/>
            <a:ext cx="73152" cy="73152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32520" y="54406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유동인구 절대 1위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549640" y="5797296"/>
            <a:ext cx="73152" cy="73152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57332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고소득 직장인 소비력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549640" y="6089904"/>
            <a:ext cx="73152" cy="73152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32520" y="60258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객단가 가능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29768"/>
            <a:ext cx="283464" cy="283464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74352" y="42976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1268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03.2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위 추천 입지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3곳은 한강 이북에 집중되어 있어 운영 효율성이 높음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7589520" cy="4023360"/>
          </a:xfrm>
          <a:prstGeom prst="roundRect">
            <a:avLst>
              <a:gd name="adj" fmla="val 1364"/>
            </a:avLst>
          </a:prstGeom>
          <a:solidFill>
            <a:srgbClr val="EAF1F4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60766"/>
            <a:ext cx="7589520" cy="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435531"/>
            <a:ext cx="7589520" cy="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010297"/>
            <a:ext cx="7589520" cy="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585063"/>
            <a:ext cx="7589520" cy="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159829"/>
            <a:ext cx="7589520" cy="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5734594"/>
            <a:ext cx="7589520" cy="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24297" y="2286000"/>
            <a:ext cx="0" cy="402336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08514" y="2286000"/>
            <a:ext cx="0" cy="402336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92731" y="2286000"/>
            <a:ext cx="0" cy="402336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76949" y="2286000"/>
            <a:ext cx="0" cy="402336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61166" y="2286000"/>
            <a:ext cx="0" cy="402336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45383" y="2286000"/>
            <a:ext cx="0" cy="4023360"/>
          </a:xfrm>
          <a:prstGeom prst="line">
            <a:avLst/>
          </a:prstGeom>
          <a:noFill/>
          <a:ln w="6350">
            <a:solidFill>
              <a:srgbClr val="D5E0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617720"/>
            <a:ext cx="7589520" cy="45720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Seoul Subway · Top 3 Popup Locations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74520" y="3246120"/>
            <a:ext cx="1005840" cy="1005840"/>
          </a:xfrm>
          <a:prstGeom prst="ellipse">
            <a:avLst/>
          </a:prstGeom>
          <a:solidFill>
            <a:srgbClr val="E8B339">
              <a:alpha val="30000"/>
            </a:srgbClr>
          </a:solidFill>
          <a:ln w="12700">
            <a:solidFill>
              <a:srgbClr val="E8B33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12848" y="3584448"/>
            <a:ext cx="329184" cy="329184"/>
          </a:xfrm>
          <a:prstGeom prst="ellipse">
            <a:avLst/>
          </a:prstGeom>
          <a:solidFill>
            <a:srgbClr val="E8B3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12848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0" y="40233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B3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홍대입구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3566160"/>
            <a:ext cx="1097280" cy="1097280"/>
          </a:xfrm>
          <a:prstGeom prst="ellipse">
            <a:avLst/>
          </a:prstGeom>
          <a:solidFill>
            <a:srgbClr val="E85A4F">
              <a:alpha val="30000"/>
            </a:srgbClr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96128" y="3950208"/>
            <a:ext cx="329184" cy="329184"/>
          </a:xfrm>
          <a:prstGeom prst="ellipse">
            <a:avLst/>
          </a:prstGeom>
          <a:solidFill>
            <a:srgbClr val="E85A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12080" y="43891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389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  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43400" y="4892040"/>
            <a:ext cx="1005840" cy="1005840"/>
          </a:xfrm>
          <a:prstGeom prst="ellipse">
            <a:avLst/>
          </a:prstGeom>
          <a:solidFill>
            <a:srgbClr val="00A84D">
              <a:alpha val="30000"/>
            </a:srgbClr>
          </a:solidFill>
          <a:ln w="12700">
            <a:solidFill>
              <a:srgbClr val="00A8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81728" y="5230368"/>
            <a:ext cx="329184" cy="329184"/>
          </a:xfrm>
          <a:prstGeom prst="ellipse">
            <a:avLst/>
          </a:prstGeom>
          <a:solidFill>
            <a:srgbClr val="00A8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5230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97680" y="56692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A8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5669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  남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440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B4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강북권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B4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강남권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03920" y="2286000"/>
            <a:ext cx="3108960" cy="4023360"/>
          </a:xfrm>
          <a:prstGeom prst="roundRect">
            <a:avLst>
              <a:gd name="adj" fmla="val 2353"/>
            </a:avLst>
          </a:prstGeom>
          <a:solidFill>
            <a:srgbClr val="F5F1E8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지리적 분포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73252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강북 2 · 강남 1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732520" y="3337560"/>
            <a:ext cx="265176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32520" y="3566160"/>
            <a:ext cx="274320" cy="27432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5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9828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  수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098280" y="3749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한강 북쪽 동쪽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732520" y="4160520"/>
            <a:ext cx="274320" cy="274320"/>
          </a:xfrm>
          <a:prstGeom prst="ellipse">
            <a:avLst/>
          </a:prstGeom>
          <a:solidFill>
            <a:srgbClr val="E8B339"/>
          </a:solidFill>
          <a:ln w="12700">
            <a:solidFill>
              <a:srgbClr val="E8B33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3252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09828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홍대입구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098280" y="4343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한강 북쪽 서쪽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732520" y="4754880"/>
            <a:ext cx="274320" cy="274320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325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098280" y="4709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  남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9098280" y="4937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한강 남쪽 중심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732520" y="5440680"/>
            <a:ext cx="265176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32520" y="5532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강남↔성수 직선거리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5.2km / 지하철 12분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29768"/>
            <a:ext cx="283464" cy="283464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74352" y="42976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1268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전략 시사점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팝업이라도 입지마다 운영 시간 · 타겟 · 가격 전략을 달리해야 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차원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 · 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3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홍대입구 · 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0684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 · 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10972800" cy="685800"/>
          </a:xfrm>
          <a:prstGeom prst="rect">
            <a:avLst/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34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시간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834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11–22시 · 평일+주말 풀가동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834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12–24시 · 주말 야간 집중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06840" y="2834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11–14시 · 점심 피크 집중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타겟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20–30대 직장인 + MZ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초중반 학생/MZ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0684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30–40대 고소득 직장인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10972800" cy="685800"/>
          </a:xfrm>
          <a:prstGeom prst="rect">
            <a:avLst/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06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0440" y="4206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(7,000–15,000원)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206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저렴 (5,000–10,000원)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6840" y="4206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(15,000–30,000원)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892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 채널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4892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인스타그램 · 콜라보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4892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틱톡 · 인증샷 마케팅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06840" y="4892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워크인 · 카카오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577840"/>
            <a:ext cx="10972800" cy="685800"/>
          </a:xfrm>
          <a:prstGeom prst="rect">
            <a:avLst/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577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요소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20440" y="5577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포화 → 차별화 필수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5577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주중 매출 변동성 큼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06840" y="5577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임대료 부담 · 경쟁 강도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65760"/>
            <a:ext cx="2194560" cy="411480"/>
          </a:xfrm>
          <a:prstGeom prst="roundRect">
            <a:avLst>
              <a:gd name="adj" fmla="val 48889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4352" y="429768"/>
            <a:ext cx="283464" cy="283464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74352" y="42976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12680" y="365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85A4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00A84D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요약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1280160" cy="0"/>
          </a:xfrm>
          <a:prstGeom prst="line">
            <a:avLst/>
          </a:prstGeom>
          <a:noFill/>
          <a:ln w="31750">
            <a:solidFill>
              <a:srgbClr val="E85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검증된 3곳, 각기 다른 강점을 가진 포트폴리오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0F1A33"/>
          </a:solidFill>
          <a:ln w="6350">
            <a:solidFill>
              <a:srgbClr val="3B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63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91640" y="3108960"/>
            <a:ext cx="0" cy="457200"/>
          </a:xfrm>
          <a:prstGeom prst="line">
            <a:avLst/>
          </a:prstGeom>
          <a:noFill/>
          <a:ln w="12700">
            <a:solidFill>
              <a:srgbClr val="3B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3044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기반의 객관적 입지 선정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874520" y="3429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608개 지하철역의 승하차 패턴 분석으로 직감이 아닌 근거로 입지를 도출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880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0F1A33"/>
          </a:solidFill>
          <a:ln w="6350">
            <a:solidFill>
              <a:srgbClr val="3B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063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69480" y="3108960"/>
            <a:ext cx="0" cy="457200"/>
          </a:xfrm>
          <a:prstGeom prst="line">
            <a:avLst/>
          </a:prstGeom>
          <a:noFill/>
          <a:ln w="12700">
            <a:solidFill>
              <a:srgbClr val="3B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044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 다른 상권 유형으로 리스크 분산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52360" y="3429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성수(오피스) · 홍대입구(혼합) · 강남(강오피스) — 서로 다른 고객층을 노려 매출 변동성 최소화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0F1A33"/>
          </a:solidFill>
          <a:ln w="6350">
            <a:solidFill>
              <a:srgbClr val="3B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617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691640" y="4663440"/>
            <a:ext cx="0" cy="457200"/>
          </a:xfrm>
          <a:prstGeom prst="line">
            <a:avLst/>
          </a:prstGeom>
          <a:noFill/>
          <a:ln w="12700">
            <a:solidFill>
              <a:srgbClr val="3B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74520" y="4599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입지별 차별화된 운영 전략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874520" y="4983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브랜드라도 시간대 · 타겟 · 가격대를 달리해야 ROI 극대화 가능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4348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0F1A33"/>
          </a:solidFill>
          <a:ln w="6350">
            <a:solidFill>
              <a:srgbClr val="3B4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617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269480" y="4663440"/>
            <a:ext cx="0" cy="457200"/>
          </a:xfrm>
          <a:prstGeom prst="line">
            <a:avLst/>
          </a:prstGeom>
          <a:noFill/>
          <a:ln w="12700">
            <a:solidFill>
              <a:srgbClr val="3B4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4599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 상권 데이터 결합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452360" y="4983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임대료·경쟁 매장·SNS 트렌드 데이터를 추가로 결합하면 정밀도 더욱 향상 가능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식음료 팝업 스토어 추천 3곳  ·  서울시 지하철 데이터 기반 분석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84080" y="6373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85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식음료 팝업 스토어 추천 3곳</dc:title>
  <dc:subject>PptxGenJS Presentation</dc:subject>
  <dc:creator>한상민</dc:creator>
  <cp:lastModifiedBy>한상민</cp:lastModifiedBy>
  <cp:revision>1</cp:revision>
  <dcterms:created xsi:type="dcterms:W3CDTF">2026-06-25T07:18:41Z</dcterms:created>
  <dcterms:modified xsi:type="dcterms:W3CDTF">2026-06-25T07:18:41Z</dcterms:modified>
</cp:coreProperties>
</file>