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시간대별 평균 이용객 수 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(</a:t>
            </a:r>
            <a:r>
              <a:rPr lang="ko-KR" altLang="en-US" sz="1800" b="0" i="0" u="none" strike="noStrike">
                <a:solidFill>
                  <a:srgbClr val="000000"/>
                </a:solidFill>
                <a:latin typeface="Arial"/>
              </a:rPr>
              <a:t>개념 모형</a:t>
            </a:r>
            <a:r>
              <a:rPr lang="en-US" altLang="ko-KR" sz="1800" b="0" i="0" u="none" strike="noStrike">
                <a:solidFill>
                  <a:srgbClr val="000000"/>
                </a:solidFill>
                <a:latin typeface="Arial"/>
              </a:rPr>
              <a:t>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주거타운</c:v>
                </c:pt>
              </c:strCache>
            </c:strRef>
          </c:tx>
          <c:spPr>
            <a:ln w="25400" cap="flat">
              <a:solidFill>
                <a:srgbClr val="4C72B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C72B0"/>
              </a:solidFill>
              <a:ln w="9525" cap="flat">
                <a:solidFill>
                  <a:srgbClr val="4C72B0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200</c:v>
                </c:pt>
                <c:pt idx="1">
                  <c:v>400</c:v>
                </c:pt>
                <c:pt idx="2">
                  <c:v>1200</c:v>
                </c:pt>
                <c:pt idx="3">
                  <c:v>3800</c:v>
                </c:pt>
                <c:pt idx="4">
                  <c:v>4500</c:v>
                </c:pt>
                <c:pt idx="5">
                  <c:v>2800</c:v>
                </c:pt>
                <c:pt idx="6">
                  <c:v>900</c:v>
                </c:pt>
                <c:pt idx="7">
                  <c:v>700</c:v>
                </c:pt>
                <c:pt idx="8">
                  <c:v>750</c:v>
                </c:pt>
                <c:pt idx="9">
                  <c:v>700</c:v>
                </c:pt>
                <c:pt idx="10">
                  <c:v>750</c:v>
                </c:pt>
                <c:pt idx="11">
                  <c:v>800</c:v>
                </c:pt>
                <c:pt idx="12">
                  <c:v>1000</c:v>
                </c:pt>
                <c:pt idx="13">
                  <c:v>2000</c:v>
                </c:pt>
                <c:pt idx="14">
                  <c:v>3200</c:v>
                </c:pt>
                <c:pt idx="15">
                  <c:v>3800</c:v>
                </c:pt>
                <c:pt idx="16">
                  <c:v>3200</c:v>
                </c:pt>
                <c:pt idx="17">
                  <c:v>2000</c:v>
                </c:pt>
                <c:pt idx="18">
                  <c:v>1000</c:v>
                </c:pt>
                <c:pt idx="19">
                  <c:v>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49-48E4-9220-901A4D3080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복합타운</c:v>
                </c:pt>
              </c:strCache>
            </c:strRef>
          </c:tx>
          <c:spPr>
            <a:ln w="25400" cap="flat">
              <a:solidFill>
                <a:srgbClr val="55A86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5A868"/>
              </a:solidFill>
              <a:ln w="9525" cap="flat">
                <a:solidFill>
                  <a:srgbClr val="55A868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300</c:v>
                </c:pt>
                <c:pt idx="1">
                  <c:v>500</c:v>
                </c:pt>
                <c:pt idx="2">
                  <c:v>1000</c:v>
                </c:pt>
                <c:pt idx="3">
                  <c:v>2800</c:v>
                </c:pt>
                <c:pt idx="4">
                  <c:v>3200</c:v>
                </c:pt>
                <c:pt idx="5">
                  <c:v>2200</c:v>
                </c:pt>
                <c:pt idx="6">
                  <c:v>1500</c:v>
                </c:pt>
                <c:pt idx="7">
                  <c:v>1600</c:v>
                </c:pt>
                <c:pt idx="8">
                  <c:v>2200</c:v>
                </c:pt>
                <c:pt idx="9">
                  <c:v>2100</c:v>
                </c:pt>
                <c:pt idx="10">
                  <c:v>2200</c:v>
                </c:pt>
                <c:pt idx="11">
                  <c:v>2000</c:v>
                </c:pt>
                <c:pt idx="12">
                  <c:v>2100</c:v>
                </c:pt>
                <c:pt idx="13">
                  <c:v>2800</c:v>
                </c:pt>
                <c:pt idx="14">
                  <c:v>4200</c:v>
                </c:pt>
                <c:pt idx="15">
                  <c:v>4800</c:v>
                </c:pt>
                <c:pt idx="16">
                  <c:v>4000</c:v>
                </c:pt>
                <c:pt idx="17">
                  <c:v>3000</c:v>
                </c:pt>
                <c:pt idx="18">
                  <c:v>1800</c:v>
                </c:pt>
                <c:pt idx="19">
                  <c:v>700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949-48E4-9220-901A4D3080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오피스타운</c:v>
                </c:pt>
              </c:strCache>
            </c:strRef>
          </c:tx>
          <c:spPr>
            <a:ln w="25400" cap="flat">
              <a:solidFill>
                <a:srgbClr val="C44E5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4E52"/>
              </a:solidFill>
              <a:ln w="9525" cap="flat">
                <a:solidFill>
                  <a:srgbClr val="C44E52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04</c:v>
                </c:pt>
                <c:pt idx="1">
                  <c:v>05</c:v>
                </c:pt>
                <c:pt idx="2">
                  <c:v>06</c:v>
                </c:pt>
                <c:pt idx="3">
                  <c:v>07</c:v>
                </c:pt>
                <c:pt idx="4">
                  <c:v>08</c:v>
                </c:pt>
                <c:pt idx="5">
                  <c:v>09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13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17</c:v>
                </c:pt>
                <c:pt idx="14">
                  <c:v>18</c:v>
                </c:pt>
                <c:pt idx="15">
                  <c:v>19</c:v>
                </c:pt>
                <c:pt idx="16">
                  <c:v>20</c:v>
                </c:pt>
                <c:pt idx="17">
                  <c:v>21</c:v>
                </c:pt>
                <c:pt idx="18">
                  <c:v>22</c:v>
                </c:pt>
                <c:pt idx="19">
                  <c:v>23</c:v>
                </c:pt>
              </c:strCache>
            </c: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100</c:v>
                </c:pt>
                <c:pt idx="1">
                  <c:v>200</c:v>
                </c:pt>
                <c:pt idx="2">
                  <c:v>600</c:v>
                </c:pt>
                <c:pt idx="3">
                  <c:v>2000</c:v>
                </c:pt>
                <c:pt idx="4">
                  <c:v>4800</c:v>
                </c:pt>
                <c:pt idx="5">
                  <c:v>5500</c:v>
                </c:pt>
                <c:pt idx="6">
                  <c:v>3500</c:v>
                </c:pt>
                <c:pt idx="7">
                  <c:v>3200</c:v>
                </c:pt>
                <c:pt idx="8">
                  <c:v>4200</c:v>
                </c:pt>
                <c:pt idx="9">
                  <c:v>4000</c:v>
                </c:pt>
                <c:pt idx="10">
                  <c:v>4200</c:v>
                </c:pt>
                <c:pt idx="11">
                  <c:v>3500</c:v>
                </c:pt>
                <c:pt idx="12">
                  <c:v>3800</c:v>
                </c:pt>
                <c:pt idx="13">
                  <c:v>4500</c:v>
                </c:pt>
                <c:pt idx="14">
                  <c:v>7200</c:v>
                </c:pt>
                <c:pt idx="15">
                  <c:v>8000</c:v>
                </c:pt>
                <c:pt idx="16">
                  <c:v>5500</c:v>
                </c:pt>
                <c:pt idx="17">
                  <c:v>3000</c:v>
                </c:pt>
                <c:pt idx="18">
                  <c:v>1200</c:v>
                </c:pt>
                <c:pt idx="19">
                  <c:v>400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949-48E4-9220-901A4D3080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257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승하차 패턴 분석을 통한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상권 유형 분류 및</a:t>
            </a:r>
            <a:endParaRPr lang="en-US" sz="3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입지 최적화 전략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비대칭 지수(Balance Index) 기반 K-Means 군집화 및 골든아워 전략 도출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</a:t>
            </a: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열린데이터광장 · 지하철 시간대별 승하차인원 정보 (2019년)  |  </a:t>
            </a:r>
            <a:r>
              <a:rPr lang="en-US" sz="1000" b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대상: </a:t>
            </a: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280개 역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배경 및 핵심 주장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05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팝업스토어는 브랜드 경험을 극대화하는 핵심 마케팅 수단이며, 서울 지하철은 방대한 유동인구 데이터를 제공하는 도시 핵심 인프라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6868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05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문제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28032" y="134416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'유동인구가 많은 곳'만 보는 전략은 타겟 고객과 공간의 목적이 불일치 → 높은 임대료 대비 구매 전환율 저조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3464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질문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3101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리소스로 최대 성과를 내려면, 지하철역별 특성을 통계적으로 분류하고 최적 입지를 어떻게 선별할 수 있을까?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7B5E1A"/>
          </a:solidFill>
          <a:ln w="12700">
            <a:solidFill>
              <a:srgbClr val="7B5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71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해결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33101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비대칭 지수(Balance Index)로 역을 주거·복합·업무 유형으로 분류하고, 유형별로 타겟팅·시간대 전략을 이원화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45152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54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주장: 팝업스토어 성공의 열쇠는 '인구수'가 아니라 '브랜드·타겟과 공간의 기능적 성격 일치'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설계 — 피라미드 구조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057400" y="914400"/>
            <a:ext cx="50292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960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280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최적 입지는 유동인구량이 아닌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지역의 기능적 성격으로 선정해야 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1965960"/>
            <a:ext cx="6858000" cy="914400"/>
          </a:xfrm>
          <a:prstGeom prst="rect">
            <a:avLst/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116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근거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유형별 기능 차이 검증  ② 통계적 유의성 확인  ③ 골든아워·전략 매칭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91440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지하철 2019년 승하차 데이터 → Balance Index → K-Means → Kruskal-Wallis → 입지 전략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7891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31723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 데이터 클렌징 &amp; 피처 엔지니어링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5562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 상권 유형 분류 — K-Means 군집화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795266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 통계적 유의성 검증 — Kruskal-Wallis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31723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 골든아워 분석 &amp; 팝업스토어 입지 전략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57327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 결론 및 제언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소개 및 전처리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시간대별 승하차인원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기간: 2015.01 ~ 2021.06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수: 579개 / 시간대: 1시간 단위 (24시간)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승차·하차 컬럼 각 24개 = 총 48개 피처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기준: 2019년 (코로나 이전 정상 패턴)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지하철역 위치정보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subway_location_data.csv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역명 · 주소 · 위도(x좌표) · 경도(y좌표)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역명 정제: '역' 제거 + 괄호 내 환승 정보 제거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조인 후 서울시 소재 역 필터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저이용 역(하위 5%) 제외 → 최종 280개 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파이프라인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 로드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(EUC-KR 인코딩)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9280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5740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2019년 필터링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(코로나 전 정상 패턴)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016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환승역 합산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(역×월 단위)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6752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212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평균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(역별 대표 프로파일)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488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948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위치정보 조인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서울시 280개 역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지표: 출퇴근 비대칭 지수 (Balance Index)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71600" y="82296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(AM) 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하차인원  −  AM 승차인원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98448"/>
            <a:ext cx="2560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하차인원  +  AM 승차인원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시간대: 07 ~ 09시 기준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&lt; 0 (음수)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 기능 강함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 승차 우세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사람들이 '빠져나가는' 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≈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기능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승하차 비교적 균형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주거+업무 혼재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&gt; 0 (양수)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기능 강함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 하차 우세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사람들이 '몰려오는' 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28032"/>
            <a:ext cx="8229600" cy="256032"/>
          </a:xfrm>
          <a:prstGeom prst="roundRect">
            <a:avLst>
              <a:gd name="adj" fmla="val 28571"/>
            </a:avLst>
          </a:prstGeom>
          <a:solidFill>
            <a:srgbClr val="E2EBF4"/>
          </a:solidFill>
          <a:ln w="12700">
            <a:solidFill>
              <a:srgbClr val="E2EB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83717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Index(퇴근 18~20시 기준)도 동일 방식으로 산출 → 3장 교차 검증에 활용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군집화 — 상권 유형 3분류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단일 변수로 K-Means(k=3) 수행 → 군집 중심값 크기 순서대로 유형 라벨 부여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130개 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4416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&lt; 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4416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승차 &gt; AM 하차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4416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사당, 신림, 신도림, 노원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4416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상대적으로 적음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413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90개 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2452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≈ 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2452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승·하차 유사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홍대입구, 잠실, 고속터미널, 건대입구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중간 수준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5449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60개 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0488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&gt; 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0488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 &gt; AM 승차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0488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강남, 서울역, 선릉, 종로3가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0488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가장 많음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4048" y="4773168"/>
            <a:ext cx="8375904" cy="320040"/>
          </a:xfrm>
          <a:prstGeom prst="roundRect">
            <a:avLst>
              <a:gd name="adj" fmla="val 22857"/>
            </a:avLst>
          </a:prstGeom>
          <a:solidFill>
            <a:srgbClr val="EFF7F2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82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오피스타운은 총 이용객 규모도 가장 크다 — '기능이 다르다'를 넘어 '비즈니스 기회의 크기도 다르다'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검증 — Kruskal-Wallis Test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8375904" cy="594360"/>
          </a:xfrm>
          <a:prstGeom prst="roundRect">
            <a:avLst>
              <a:gd name="adj" fmla="val 15385"/>
            </a:avLst>
          </a:prstGeom>
          <a:solidFill>
            <a:srgbClr val="FFF8EE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검정 선택 이유: 그룹별 표본 크기 불균형 + 이용객 수 분포의 우측 편향(Right-skewed) → 정규성·등분산 가정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통계량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임계값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유형 간 순위 분포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매우 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7413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유의수준 0.05 기준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7413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귀무가설(세 유형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총이용객 동일) 강력 기각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 η²_H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수준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5449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Cohen(1988) 기준 η² &gt; 0.14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449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너머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실무적 차이도 충분히 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5112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 — PM Index (퇴근 시간대 독립 지수)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4048" y="3977640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14216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&gt; 0 (양수)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39867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시간 승차 우세 → '빠져나가는' 패턴 ✓ AM과 반대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4306824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343400"/>
            <a:ext cx="146304" cy="146304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≈ 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60520" y="43159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균형적 패턴 유지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4636008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672584"/>
            <a:ext cx="146304" cy="146304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645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&lt; 0 (음수)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60520" y="46451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시간 하차 우세 → '들어오는' 패턴 ✓ AM과 반대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" y="498348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분석 — 유형별 시간대 이용 패턴</a:t>
            </a:r>
            <a:endParaRPr lang="en-US" sz="2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84048" y="749808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77724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77724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161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퇴근 후 저녁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618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출근대는 이동 목적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체험형엔 저녁이 적합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92240" y="219456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9456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저녁 ~ 심야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21시+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 집중 운영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유동+방문객 혼재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61188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361188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점심 12~14시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18~19시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4453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종일 높은 수준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피크 시간대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4956048"/>
            <a:ext cx="8375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시간대 그래프는 분석 패턴을 개념적으로 재현한 것입니다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추천 입지 Top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유형 내에서 총이용객 규모 상위 5개 역 — '기능 적합 + 규모 우선' 이원 기준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" y="1737360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212848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" y="2688336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" y="3163824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종로3가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" y="3639312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을지로입구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C44E52">
              <a:alpha val="15000"/>
            </a:srgbClr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편의성 중심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체험·테이크아웃형 굿즈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01568" y="1737360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6732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01568" y="2212848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6732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01568" y="2688336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신도림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01568" y="3163824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6732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01568" y="3639312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6732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수원(타 지역 유사)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5584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4C72B0">
              <a:alpha val="15000"/>
            </a:srgbClr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체험·여가 중심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동반 체험존·이벤트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4476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476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81928" y="1737360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4768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81928" y="2212848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4768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잠실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81928" y="2688336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8192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4768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고속터미널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81928" y="3163824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19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4768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건대입구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281928" y="3639312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4768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이태원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3620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55A868">
              <a:alpha val="15000"/>
            </a:srgbClr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혼합형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트렌디 브랜드 경험·주말 집중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84048" y="4814316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실제 입지 선정 시 임대료·경쟁 브랜드 입점 현황 등 추가 변수를 함께 고려해야 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입지 × 시간대 전략 매트릭스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18745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86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유형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777240"/>
            <a:ext cx="178308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86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타겟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777240"/>
            <a:ext cx="1664208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7863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777240"/>
            <a:ext cx="146304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786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프로모션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777240"/>
            <a:ext cx="146304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786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입지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261872"/>
            <a:ext cx="8439912" cy="1170432"/>
          </a:xfrm>
          <a:prstGeom prst="rect">
            <a:avLst/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261872"/>
            <a:ext cx="1874520" cy="1170432"/>
          </a:xfrm>
          <a:prstGeom prst="rect">
            <a:avLst/>
          </a:prstGeom>
          <a:solidFill>
            <a:srgbClr val="C44E52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33502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04872" y="133502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직장인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의사결정 소비자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33672" y="133502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12~14시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18~19시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133502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편의성 중심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체험·테이크아웃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34072" y="133502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강남·서울역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선릉·종로3가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2542032"/>
            <a:ext cx="84399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542032"/>
            <a:ext cx="1874520" cy="1170432"/>
          </a:xfrm>
          <a:prstGeom prst="rect">
            <a:avLst/>
          </a:prstGeom>
          <a:solidFill>
            <a:srgbClr val="4C72B0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1518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04872" y="261518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거주민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단위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33672" y="261518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후 저녁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261518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체험·여가 중심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체험존·가족 이벤트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34072" y="261518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사당·신림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신도림·노원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3822192"/>
            <a:ext cx="8439912" cy="1170432"/>
          </a:xfrm>
          <a:prstGeom prst="rect">
            <a:avLst/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822192"/>
            <a:ext cx="1874520" cy="1170432"/>
          </a:xfrm>
          <a:prstGeom prst="rect">
            <a:avLst/>
          </a:prstGeom>
          <a:solidFill>
            <a:srgbClr val="55A868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9534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04872" y="389534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유동인구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방문객 혼합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33672" y="389534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저녁~심야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21시+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0" y="389534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혼합형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트렌디·주말 집중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34072" y="389534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홍대입구·잠실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고속터미널·건대입구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— 피라미드 구조 Recap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868680"/>
          </a:xfrm>
          <a:prstGeom prst="roundRect">
            <a:avLst>
              <a:gd name="adj" fmla="val 12632"/>
            </a:avLst>
          </a:prstGeom>
          <a:solidFill>
            <a:srgbClr val="E8A838">
              <a:alpha val="9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859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161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팝업스토어의 성공은 '인구수'가 아니라 브랜드·타겟과 공간의 기능적 성격이 일치하는가에 달려 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938528"/>
            <a:ext cx="320040" cy="32004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기능 차이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280개 역을 Balance Index로 군집화 → 주거타운·복합타운·오피스타운 3분류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오피스타운(강남·서울역 등): AM 하차 우세 / 주거타운(사당·신림 등): AM 승차 우세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938528"/>
            <a:ext cx="320040" cy="320040"/>
          </a:xfrm>
          <a:prstGeom prst="ellipse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검정 p &lt; 0.001, 효과크기 η²_H Large 수준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교차검증으로 Construct Validity 추가 입증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938528"/>
            <a:ext cx="320040" cy="320040"/>
          </a:xfrm>
          <a:prstGeom prst="ellipse">
            <a:avLst/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768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실행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 → 편의성 중심(점심·퇴근) / 주거타운 → 체험·여가(저녁)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 → 혼합형(주말 집중) 이원화 전략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645152"/>
            <a:ext cx="8375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말한다 — '어디에' 열 것인가와 '언제' 열 것인가를 함께 설계할 때 팝업스토어는 강력해진다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보완 방향 및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848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스코어링 모델 구축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임대료, 경쟁 브랜드 입점 현황, 주변 상권 밀도 등 비용·경쟁 변수를 추가 결합하여 단순 이용객 규모 순위를 넘어선 종합 입지 점수 산출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005840"/>
            <a:ext cx="411480" cy="41148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평일/주말 패턴 및 계절성 반영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분석은 2019년 연간 평균 기준으로, 평일과 주말의 이용 패턴 차이, 시즌 이벤트(연말·명절 등) 등을 별도로 반영하면 전략 정밀도 향상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" y="3127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데이터를 통한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팝업스토어 운영 데이터(방문자 수, 체류시간, 구매 전환율)를 수집하여 본 분류 체계의 예측력을 사후 검증(Validation)하는 단계 필요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3108960"/>
            <a:ext cx="411480" cy="41148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127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범위 확장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데이터 외 버스·따릉이·카드 소비 데이터 등 멀티소스 결합으로 더 풍부한 상권 프로파일링 가능. 수도권 외 지역으로의 확장도 고려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93776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분석은 탐색적 성격으로, 향후 실무 적용 시 위 보완 사항을 함께 검토하기를 권장합니다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승하차 패턴 분석을 통한</a:t>
            </a:r>
            <a:endParaRPr lang="en-US" sz="14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상권 유형 분류 및 팝업스토어 입지 최적화 전략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Index로 상권 유형 3분류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p &lt; 0.001 검증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기반 이원화 전략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서울 열린데이터광장 · 2019년 지하철 시간대별 승하차인원 정보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1435</Words>
  <Application>Microsoft Office PowerPoint</Application>
  <PresentationFormat>화면 슬라이드 쇼(16:9)</PresentationFormat>
  <Paragraphs>286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지하철 승하차 패턴 분석을 통한 팝업스토어 입지 최적화</dc:title>
  <dc:subject>PptxGenJS Presentation</dc:subject>
  <dc:creator>PptxGenJS</dc:creator>
  <cp:lastModifiedBy>중진공30</cp:lastModifiedBy>
  <cp:revision>4</cp:revision>
  <dcterms:created xsi:type="dcterms:W3CDTF">2026-06-26T01:37:24Z</dcterms:created>
  <dcterms:modified xsi:type="dcterms:W3CDTF">2026-06-26T02:06:10Z</dcterms:modified>
</cp:coreProperties>
</file>