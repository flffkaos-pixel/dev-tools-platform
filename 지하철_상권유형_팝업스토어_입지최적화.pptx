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퇴근시간대 지수 (PM Index) — 출근시간 분류와 정반대 방향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 Index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A8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4E5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주거타운</c:v>
                  </c:pt>
                  <c:pt idx="1">
                    <c:v>복합타운</c:v>
                  </c:pt>
                  <c:pt idx="2">
                    <c:v>오피스타운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-0.364</c:v>
                </c:pt>
                <c:pt idx="1">
                  <c:v>0.006</c:v>
                </c:pt>
                <c:pt idx="2">
                  <c:v>0.411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RETAIL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875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지하철 승하차 패턴 분석을 통한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서울시 상권 유형 분류 및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팝업스토어 입지 최적화 전략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비대칭 지수(Balance Index)로 읽는 서울 지하철 280개 역의 기능적 성격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열린데이터광장 · 지하철 시간대별 승하차인원 정보 (2019)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ARGUMENT · 피라미드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팝업스토어의 성공은 '인구수'가 아니라</a:t>
            </a:r>
            <a:endParaRPr lang="en-US" sz="2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'브랜드·타겟과 공간의 기능이 일치하는가'에 달려 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유동인구가 많은 곳이 아니라, 출근 시간대 승하차 데이터로 도출된 '지역의 기능적 성격'을 기반으로 입지를 선정해야 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136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502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유형별 기능적 차이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역은 동일하지 않다. 출퇴근 비대칭 지수로 역은 주거형·복합형·업무형 3가지 성격으로 뚜렷이 구분된다.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880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3136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502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통계적 유의성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41605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검정(p&lt;.001) 및 효과크기로 유형 간 이용객 차이는 우연이 아닌 구조적 차이임이 입증된다.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2880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136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0" y="3502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시간대별 골든아워 차이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0" y="41605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유형마다 사람이 몰리는 시간(골든아워)이 다르므로, 입지 유형에 맞춘 시간대별 프로모션 전략이 필요하다.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DESIGN · SCQA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정의: 왜 '유동인구'만으로는 부족한가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19202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팝업스토어는 브랜드 경험을 극대화하는 핵심 수단이며, 서울 지하철은 방대한 유동인구 데이터를 제공한다.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44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9992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99923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'유동인구가 많은 곳'을 고르는 전략은 타겟과 공간 목적이 어긋나, 높은 임대료 대비 전환율이 낮다.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23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4078224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리소스로 최대 성과를 내기 위해, 역별 특성을 어떻게 통계적으로 분류하고 최적 입지를 선별할 수 있을까?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658368" cy="65836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029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51572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515721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 승하차 비대칭 지수(Balance Index)로 역을 군집화해 기능적 성격을 규명하고, 유형별 전략을 제안한다.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· 분석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데이터 및 범위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579개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분석 대상 역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(2015~2021)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47288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30168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30168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기준 연도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(코로나19 이전 정상 패턴)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45936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 → 280개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28816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소재 역 →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저이용 역(하위 5%) 제외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44584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427464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27464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시간대별 승차·하차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컬럼 (1시간 단위)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시간대별 승하차인원 정보 — 서울 열린데이터광장, 역명·호선·시간대별 승하차 인원 (월별)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지하철역 위치정보 — 역명·주소·좌표(위경도) 결합용 데이터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가공 변수: 출퇴근 비대칭 지수 (Balance Index)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Index  =  ( AM 하차인원 − AM 승차인원 ) / ( AM 하차인원 + AM 승차인원 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Index 분포 확인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시간대(07~09시) 기준, 승차 우세(주거 성격, −)와 하차 우세(업무 성격, +)가 뚜렷한 다봉형 분포를 보여 — 역의 성격이 실제로 구분되는 그룹임을 시사한다.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08661" y="2240280"/>
            <a:ext cx="6771629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/home/claude/nb_images/cell49_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5821" y="2377440"/>
            <a:ext cx="6497309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군집화: 3가지 상권 유형 도출</a:t>
            </a:r>
            <a:endParaRPr lang="en-US" sz="2600" dirty="0"/>
          </a:p>
        </p:txBody>
      </p:sp>
      <p:pic>
        <p:nvPicPr>
          <p:cNvPr id="4" name="Image 0" descr="/home/claude/nb_images/cell53_im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145767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82880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EA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178040" y="2281428"/>
            <a:ext cx="237744" cy="237744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947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주거타운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0" y="23957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 승차 우세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966960" y="18288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144개 역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949440" y="3172968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EA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7178040" y="3625596"/>
            <a:ext cx="237744" cy="237744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복합타운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43800" y="37398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승하차 균형형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966960" y="3172968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78개 역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949440" y="4517136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EAF4F8"/>
          </a:solidFill>
          <a:ln/>
        </p:spPr>
      </p:sp>
      <p:sp>
        <p:nvSpPr>
          <p:cNvPr id="16" name="Shape 13"/>
          <p:cNvSpPr/>
          <p:nvPr/>
        </p:nvSpPr>
        <p:spPr>
          <a:xfrm>
            <a:off x="7178040" y="4969764"/>
            <a:ext cx="237744" cy="237744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0" y="46360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오피스타운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43800" y="50840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 하차 우세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966960" y="4517136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58개 역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유형별 특성 프로파일링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39496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972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상권유형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승차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하차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총이용객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주거타운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115,523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936,774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복합타운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79,094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89,537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1,218,963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오피스타운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242,419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1,895,010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오피스타운은 주거타운보다 월평균 총이용객 규모도 약 2배 커, '성격 차이'를 넘어 '기회 크기의 차이'를 시사한다.</a:t>
            </a:r>
            <a:endParaRPr lang="en-US" sz="1250" dirty="0"/>
          </a:p>
        </p:txBody>
      </p:sp>
      <p:pic>
        <p:nvPicPr>
          <p:cNvPr id="6" name="Image 0" descr="/home/claude/nb_images/cell57_im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91640"/>
            <a:ext cx="5760720" cy="21898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통계적 유의성 검증: Kruskal-Wallis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등분산·정규성을 가정하지 않는 비모수 검정으로, 3개 상권 유형 간 총이용객 규모 차이가 통계적으로 의미 있는지 검증한다.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41.598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통계량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9.27e-10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177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(&lt; .001)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η²ₕ = 0.143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41248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 — '큰(Large)' 수준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해석: p-value가 매우 작아 세 유형 간 총이용객 차이는 통계적으로 유의미하며, 효과크기 또한 비즈니스 의사결정에 활용 가능한 '큰' 수준에 근접한다. 역의 기능적 분류는 통계적 우연이 아니라 실제 이용객 규모 차이를 동반하는 의미 있는 구분이다.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· CONSTRUCT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퇴근시간대 지수를 통한 교차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출근(AM) 지수로 만든 분류가 독립적으로 산출한 퇴근(PM) 지수에서도 반대 방향의 일관된 패턴을 보이는지 확인 — 순환논리를 피하기 위한 타당성 검증.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7040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19456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EAF4F8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0" y="2423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224.846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1.50e-49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η²ₕ = 0.804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381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평균 (퇴근시간대)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4023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주거타운   −0.364  (사람이 들어옴)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복합타운    0.006  (균형)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오피스타운  0.411  (사람이 빠져나감)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GOLDEN HOUR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상권유형별 시간대 이용 패턴 (골든아워)</a:t>
            </a:r>
            <a:endParaRPr lang="en-US" sz="2600" dirty="0"/>
          </a:p>
        </p:txBody>
      </p:sp>
      <p:pic>
        <p:nvPicPr>
          <p:cNvPr id="4" name="Image 0" descr="/home/claude/nb_images/cell75_im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949440" cy="31808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783080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6" name="Shape 3"/>
          <p:cNvSpPr/>
          <p:nvPr/>
        </p:nvSpPr>
        <p:spPr>
          <a:xfrm>
            <a:off x="8019288" y="2171700"/>
            <a:ext cx="182880" cy="18288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 08–09시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95560" y="178308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89,361명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18120" y="290779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8019288" y="3296412"/>
            <a:ext cx="182880" cy="18288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2104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 18–19시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95560" y="2907792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123,076명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18120" y="403250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019288" y="4421124"/>
            <a:ext cx="182880" cy="18288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4123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21040" y="4507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 18–19시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195560" y="4032504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219,237명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818120" y="5074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주거타운은 출근 직후 피크가 있으나, 시간에 쫓기는 이동 목적이라 체험형 팝업과는 맞지 않음 → 실질 골든아워는 퇴근 후 저녁(18~21시).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RECOMMENDED LOCATIONS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유형별 추천 입지 Top 5 (총이용객 기준)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640080"/>
          </a:xfrm>
          <a:prstGeom prst="rect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주거타운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95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8953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신도림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517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5171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서울대입구(관악구청)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138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138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17830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EA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1783080"/>
            <a:ext cx="3611880" cy="640080"/>
          </a:xfrm>
          <a:prstGeom prst="rect">
            <a:avLst/>
          </a:prstGeom>
          <a:solidFill>
            <a:srgbClr val="55A868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복합타운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6344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잠실(송파구청)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3273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2735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895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8953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고속터미널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517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5171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건대입구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5138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5138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구로디지털단지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17830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EA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1783080"/>
            <a:ext cx="3611880" cy="64008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32" name="Text 30"/>
          <p:cNvSpPr/>
          <p:nvPr/>
        </p:nvSpPr>
        <p:spPr>
          <a:xfrm>
            <a:off x="854964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오피스타운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4964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154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49640" y="3273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15400" y="32735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서울역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49640" y="3895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15400" y="38953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49640" y="4517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915400" y="45171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종로3가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49640" y="5138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15400" y="5138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여의도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팝업스토어 입지 × 시간대 전략 매트릭스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088136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468880"/>
                <a:gridCol w="40233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상권유형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타겟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골든아워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추천 프로모션 컨셉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오피스타운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직장인, 빠른 의사결정 소비자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점심(12-14시) / 퇴근(18-19시)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편의성 중심 — 빠른 체험, 간편 구매, 테이크아웃형 굿즈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주거타운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거주민, 가족 단위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퇴근 후 저녁(18-21시)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체험·여가 중심 — 머무름 가능한 체험존, 가족 동반 이벤트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복합타운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유동인구 + 방문객 혼합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저녁~심야(18-21시)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혼합형 — 트렌디한 브랜드 경험, 주말 집중 운영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대표 입지는 직전 슬라이드의 Top 5 분석 결과를 기반으로 함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결론 및 제언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결론: '기능 기반 입지 선정'이 팝업스토어 성과를 결정한다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지하철 295개 역(분석 후 280개)을 Balance Index로 군집화한 결과, 역은 주거타운 / 복합타운 / 오피스타운 3가지 기능적 성격으로 명확히 구분됨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291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검정(p&lt;.001)과 효과크기, 그리고 독립적인 PM Index 교차검증을 통해 분류의 통계적 유의성과 타당성을 모두 확인함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526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골든아워와 추천 입지를 도출하여, 단순 유동인구가 아닌 '시간대×기능' 기반의 팝업스토어 입지·프로모션 전략을 제시함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제언: 팝업스토어 입지는 '얼마나 많은 사람이 지나가는가'가 아니라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'우리 브랜드의 타겟이 머무는 시간과 공간이 일치하는가'로 결정하라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지하철 승하차 패턴 분석 기반 팝업스토어 입지 최적화</dc:title>
  <dc:subject>PptxGenJS Presentation</dc:subject>
  <dc:creator>Data Analysis</dc:creator>
  <cp:lastModifiedBy>Data Analysis</cp:lastModifiedBy>
  <cp:revision>1</cp:revision>
  <dcterms:created xsi:type="dcterms:W3CDTF">2026-06-26T01:18:06Z</dcterms:created>
  <dcterms:modified xsi:type="dcterms:W3CDTF">2026-06-26T01:18:06Z</dcterms:modified>
</cp:coreProperties>
</file>